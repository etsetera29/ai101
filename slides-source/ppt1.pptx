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73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 and introduce yourself. Explain that AI is no longer science fiction — it's part of daily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outcomes briefly; students should keep these in mind throughout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the question and let students discuss before revealing any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each example one at a time. Reinforce: AI is already part of your daily routine.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definition simple and concrete — avoid jargon at this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class discussion question: Can AI really think?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at a high level. Tell students: we'll study Machine Learning in depth in Week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going into deep detail here — this is just an overview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milestone briefly, one sentence per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why these enabling factors made AI practical now, not 30 years 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visual simple — three stages, from what exists today to what's still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Can ChatGPT drive a car? Use it to highlight the limits of Narrow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true AGI does not exist yet, despite the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this is still hypothetical and raises real ethical questions worth discussing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 as a quick recap of familiar AI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Google Maps traffic prediction, then run the two ChatGPT prompts live. Do not explain prompt engineering yet — just let students notice the difference in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→ Pair → Share: individual thinking, then partner discussion, then share with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key takeaways before moving to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quiz to check understanding before the reflection and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5–10 minutes to write their reflection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assignment clearly, including the table format and grading focus: correct identification, accurate classification, clear explanation, and completeness.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2377440" cy="23774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ai101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96012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24160" y="219456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1" descr="/home/claude/ai101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3344" y="2523744"/>
            <a:ext cx="713232" cy="71323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63940" y="2720340"/>
            <a:ext cx="960120" cy="9601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7" name="Image 2" descr="/home/claude/ai101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970" y="2960370"/>
            <a:ext cx="480060" cy="4800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INTRODUCTION TO ARTIFICIAL INTELLIGENCE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94360" y="2331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600" dirty="0"/>
          </a:p>
        </p:txBody>
      </p:sp>
      <p:sp>
        <p:nvSpPr>
          <p:cNvPr id="10" name="Text 5"/>
          <p:cNvSpPr/>
          <p:nvPr/>
        </p:nvSpPr>
        <p:spPr>
          <a:xfrm>
            <a:off x="640080" y="4160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Prompt Engineering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40080" y="489204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3-hour introductory session exploring what AI is, how it evolved,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it shows up in everyday life.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this lesson, students should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8096" y="199339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i101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59" y="2129455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Artificial Intelligence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08760" y="2258568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AI in simple, clear terms.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8096" y="288950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ai101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59" y="3025567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7063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its history and evolution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08760" y="3154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AI's path from 1950 to today.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68096" y="37856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ai101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59" y="392167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666744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the three types of AI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508760" y="40507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AI, General AI, and Superintelligence.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8096" y="46817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ai101/icons/mapp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159" y="4817791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562856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AI applications in everyday life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508760" y="494690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AI in the tools students already use.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68096" y="55778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/home/claude/ai101/icons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59" y="5713903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5458968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AI's impact on society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508760" y="5843016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both benefits and open concerns.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1508" y="98298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ai101/icons/he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78" y="1200150"/>
            <a:ext cx="434340" cy="4343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65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2377440"/>
            <a:ext cx="103601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times have you</a:t>
            </a:r>
            <a:endParaRPr lang="en-US" sz="3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unknowingly used AI today?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828800" y="434340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Around Us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part of your daily routine.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259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i101/icons/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070" y="23202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410712" y="187452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79392" y="21259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ai101/icons/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3702" y="232029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2152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181344" y="187452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50024" y="21259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/home/claude/ai101/icons/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334" y="2320290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72784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951976" y="187452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820656" y="21259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ai101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4966" y="2320290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43416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3867912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508760" y="4119372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/home/claude/ai101/icons/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070" y="4313682"/>
            <a:ext cx="388620" cy="3886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" y="5010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3410712" y="3867912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279392" y="411937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/home/claude/ai101/icons/mus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3702" y="4313682"/>
            <a:ext cx="388620" cy="3886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02152" y="5010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181344" y="3867912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050024" y="4119372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6" descr="/home/claude/ai101/icons/camer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4334" y="4313682"/>
            <a:ext cx="388620" cy="3886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72784" y="5010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8951976" y="3867912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B44">
                <a:alpha val="1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820656" y="4119372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7" descr="/home/claude/ai101/icons/mi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4966" y="4313682"/>
            <a:ext cx="388620" cy="3886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43416" y="501091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5577840" cy="192024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514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is the ability of machines to perform tasks that normally require human intelligence.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040880" y="868680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ai101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887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0" y="2221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869680" y="868680"/>
            <a:ext cx="1280160" cy="12801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ai101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1887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0" y="22219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040880" y="2606040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/home/claude/ai101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92608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6560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869680" y="2606040"/>
            <a:ext cx="1280160" cy="12801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/home/claude/ai101/icons/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926080"/>
            <a:ext cx="640080" cy="6400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95360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955280" y="4343400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/home/claude/ai101/icons/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466344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80960" y="5696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Something "Intelligent"?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480560" cy="3383280"/>
          </a:xfrm>
          <a:prstGeom prst="roundRect">
            <a:avLst>
              <a:gd name="adj" fmla="val 3243"/>
            </a:avLst>
          </a:prstGeom>
          <a:solidFill>
            <a:srgbClr val="0B1F3A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" y="1851660"/>
            <a:ext cx="960120" cy="9601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i101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29" y="208208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2057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Intelligence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Reason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886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Solve problems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4343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Understand language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66360" y="29260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035040" y="1554480"/>
            <a:ext cx="4480560" cy="3383280"/>
          </a:xfrm>
          <a:prstGeom prst="roundRect">
            <a:avLst>
              <a:gd name="adj" fmla="val 3243"/>
            </a:avLst>
          </a:prstGeom>
          <a:solidFill>
            <a:srgbClr val="065A82"/>
          </a:solidFill>
          <a:ln/>
        </p:spPr>
      </p:sp>
      <p:sp>
        <p:nvSpPr>
          <p:cNvPr id="13" name="Shape 10"/>
          <p:cNvSpPr/>
          <p:nvPr/>
        </p:nvSpPr>
        <p:spPr>
          <a:xfrm>
            <a:off x="6423660" y="1851660"/>
            <a:ext cx="960120" cy="9601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4" name="Image 1" descr="/home/claude/ai101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089" y="2082089"/>
            <a:ext cx="499262" cy="4992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0" y="2057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35508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Learns from data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5508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Finds patterns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55080" y="3886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Makes predictions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55080" y="4343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Generates responses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discussion: Can AI really think?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Learns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12568" y="3383280"/>
            <a:ext cx="134112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340968" y="269748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ai101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868" y="30403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928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25288" y="3383280"/>
            <a:ext cx="134112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4053688" y="269748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ai101/icons/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588" y="304038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33648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138008" y="3383280"/>
            <a:ext cx="134112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6766408" y="269748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ai101/icons/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308" y="304038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368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9479128" y="2697480"/>
            <a:ext cx="1371600" cy="137160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6" name="Image 3" descr="/home/claude/ai101/icons/tren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2028" y="3040380"/>
            <a:ext cx="685800" cy="685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59088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651760" y="5074920"/>
            <a:ext cx="6858000" cy="64008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19" name="Text 13"/>
          <p:cNvSpPr/>
          <p:nvPr/>
        </p:nvSpPr>
        <p:spPr>
          <a:xfrm>
            <a:off x="2651760" y="50749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study how this works in detail in Week 3.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AI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 timeline — we'll unpack each milestone next.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3749040"/>
            <a:ext cx="10180015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3630168"/>
            <a:ext cx="237744" cy="23774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9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3429000"/>
            <a:ext cx="0" cy="201168"/>
          </a:xfrm>
          <a:prstGeom prst="line">
            <a:avLst/>
          </a:prstGeom>
          <a:noFill/>
          <a:ln w="19050">
            <a:solidFill>
              <a:srgbClr val="AEC3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2971" y="3630168"/>
            <a:ext cx="237744" cy="23774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9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8883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41843" y="3867912"/>
            <a:ext cx="0" cy="201168"/>
          </a:xfrm>
          <a:prstGeom prst="line">
            <a:avLst/>
          </a:prstGeom>
          <a:noFill/>
          <a:ln w="19050">
            <a:solidFill>
              <a:srgbClr val="AEC3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58974" y="3630168"/>
            <a:ext cx="237744" cy="23774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9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4886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77846" y="3429000"/>
            <a:ext cx="0" cy="201168"/>
          </a:xfrm>
          <a:prstGeom prst="line">
            <a:avLst/>
          </a:prstGeom>
          <a:noFill/>
          <a:ln w="19050">
            <a:solidFill>
              <a:srgbClr val="AEC3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94977" y="3630168"/>
            <a:ext cx="237744" cy="23774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9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0889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13849" y="3867912"/>
            <a:ext cx="0" cy="201168"/>
          </a:xfrm>
          <a:prstGeom prst="line">
            <a:avLst/>
          </a:prstGeom>
          <a:noFill/>
          <a:ln w="19050">
            <a:solidFill>
              <a:srgbClr val="AEC3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30980" y="3630168"/>
            <a:ext cx="237744" cy="237744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5F9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6892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9852" y="3429000"/>
            <a:ext cx="0" cy="201168"/>
          </a:xfrm>
          <a:prstGeom prst="line">
            <a:avLst/>
          </a:prstGeom>
          <a:noFill/>
          <a:ln w="19050">
            <a:solidFill>
              <a:srgbClr val="AEC3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66983" y="3630168"/>
            <a:ext cx="237744" cy="237744"/>
          </a:xfrm>
          <a:prstGeom prst="ellipse">
            <a:avLst/>
          </a:prstGeom>
          <a:solidFill>
            <a:srgbClr val="2FE6C4"/>
          </a:solidFill>
          <a:ln w="38100">
            <a:solidFill>
              <a:srgbClr val="F5F9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62895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185855" y="3867912"/>
            <a:ext cx="0" cy="201168"/>
          </a:xfrm>
          <a:prstGeom prst="line">
            <a:avLst/>
          </a:prstGeom>
          <a:noFill/>
          <a:ln w="19050">
            <a:solidFill>
              <a:srgbClr val="AEC3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in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1540" y="16230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ai101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7945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27706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that machines could simulate human thinking.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6572" y="16230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i101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022" y="17945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3712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Conference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53712" y="27706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the term “Artificial Intelligence” in 1956.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10144" y="14173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61604" y="16230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ai101/icons/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054" y="179451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38744" y="24231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38744" y="27706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programs that dominated the 1980s.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6393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91540" y="38450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ai101/icons/chess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990" y="4016502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46451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68680" y="499262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Defeated a reigning world chess champion in 1997.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25112" y="36393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6572" y="38450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/home/claude/ai101/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8022" y="4016502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53712" y="46451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53712" y="499262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Sparked major AI breakthroughs starting in 2012.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010144" y="36393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61604" y="38450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5" descr="/home/claude/ai101/icons/ch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3054" y="4016502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38744" y="46451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238744" y="499262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Brought conversational AI to everyday users.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AI Suddenly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 Popular?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56032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ai101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8117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794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Power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383280" y="219456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1C7293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0" y="256032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9" name="Image 1" descr="/home/claude/ai101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28117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3794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26480" y="219456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0" y="256032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3" name="Image 2" descr="/home/claude/ai101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9460" y="28117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3794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869680" y="219456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1C7293"/>
          </a:solidFill>
          <a:ln/>
        </p:spPr>
      </p:sp>
      <p:sp>
        <p:nvSpPr>
          <p:cNvPr id="16" name="Shape 11"/>
          <p:cNvSpPr/>
          <p:nvPr/>
        </p:nvSpPr>
        <p:spPr>
          <a:xfrm>
            <a:off x="9601200" y="256032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3" descr="/home/claude/ai101/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660" y="28117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06840" y="3794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why didn't this happen 30 years ago?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14400" y="480060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179576" y="4974336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/home/claude/ai101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5138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48006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3538728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8" name="Shape 5"/>
          <p:cNvSpPr/>
          <p:nvPr/>
        </p:nvSpPr>
        <p:spPr>
          <a:xfrm>
            <a:off x="1179576" y="3712464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9" name="Image 1" descr="/home/claude/ai101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387705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3538728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914400" y="2276856"/>
            <a:ext cx="4754880" cy="1005840"/>
          </a:xfrm>
          <a:prstGeom prst="roundRect">
            <a:avLst>
              <a:gd name="adj" fmla="val 9091"/>
            </a:avLst>
          </a:prstGeom>
          <a:solidFill>
            <a:srgbClr val="2FE6C4"/>
          </a:solidFill>
          <a:ln/>
        </p:spPr>
      </p:sp>
      <p:sp>
        <p:nvSpPr>
          <p:cNvPr id="12" name="Shape 8"/>
          <p:cNvSpPr/>
          <p:nvPr/>
        </p:nvSpPr>
        <p:spPr>
          <a:xfrm>
            <a:off x="1179576" y="2450592"/>
            <a:ext cx="658368" cy="65836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3" name="Image 2" descr="/home/claude/ai101/icons/spark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168" y="261518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65960" y="2276856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Superintelligence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309360" y="28346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is what exists today. General AI and Superintelligence remain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goals — not current reality.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AI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perform one specific task well — the kind of AI in use everywhere today.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537460"/>
            <a:ext cx="1143000" cy="11430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i101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2823210"/>
            <a:ext cx="571500" cy="57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8221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651760" y="2537460"/>
            <a:ext cx="1143000" cy="11430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ai101/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510" y="2823210"/>
            <a:ext cx="571500" cy="571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86000" y="38221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80560" y="2537460"/>
            <a:ext cx="1143000" cy="11430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/home/claude/ai101/icons/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10" y="2823210"/>
            <a:ext cx="571500" cy="571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14800" y="38221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309360" y="2537460"/>
            <a:ext cx="1143000" cy="11430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/home/claude/ai101/icon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110" y="2823210"/>
            <a:ext cx="571500" cy="571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0" y="38221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" y="47091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18" name="Text 12"/>
          <p:cNvSpPr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Question:  Can ChatGPT drive a car?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1645920"/>
            <a:ext cx="3291840" cy="3291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ai101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4688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85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General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(AGI)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1" descr="/home/claude/ai101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2388870"/>
            <a:ext cx="251460" cy="251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Human-level intelligence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2" descr="/home/claude/ai101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3074670"/>
            <a:ext cx="251460" cy="2514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971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learn and perform any intellectual task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640080" y="4206240"/>
            <a:ext cx="5394960" cy="777240"/>
          </a:xfrm>
          <a:prstGeom prst="roundRect">
            <a:avLst>
              <a:gd name="adj" fmla="val 49412"/>
            </a:avLst>
          </a:prstGeom>
          <a:solidFill>
            <a:srgbClr val="FBE7E9"/>
          </a:solidFill>
          <a:ln/>
        </p:spPr>
      </p:sp>
      <p:sp>
        <p:nvSpPr>
          <p:cNvPr id="12" name="Shape 7"/>
          <p:cNvSpPr/>
          <p:nvPr/>
        </p:nvSpPr>
        <p:spPr>
          <a:xfrm>
            <a:off x="982980" y="4338828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3" name="Image 3" descr="/home/claude/ai101/icons/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" y="4439412"/>
            <a:ext cx="301752" cy="3017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00200" y="42062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exist yet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164592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ai101/icons/spark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4688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8580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Superintelligence (ASI)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than humans across every field — reasoning, creativity, and social skills included.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383280"/>
            <a:ext cx="4206240" cy="64008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7" name="Shape 4"/>
          <p:cNvSpPr/>
          <p:nvPr/>
        </p:nvSpPr>
        <p:spPr>
          <a:xfrm>
            <a:off x="950976" y="3511296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8" name="Image 1" descr="/home/claude/ai101/icons/he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387" y="3597707"/>
            <a:ext cx="211226" cy="2112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383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hypothetical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4206240"/>
            <a:ext cx="4206240" cy="64008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11" name="Shape 7"/>
          <p:cNvSpPr/>
          <p:nvPr/>
        </p:nvSpPr>
        <p:spPr>
          <a:xfrm>
            <a:off x="950976" y="4334256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12" name="Image 2" descr="/home/claude/ai101/icons/he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387" y="4420667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ethical concerns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We Use Every Day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4572000"/>
        </p:xfrm>
        <a:graphic>
          <a:graphicData uri="http://schemas.openxmlformats.org/drawingml/2006/table">
            <a:tbl>
              <a:tblPr/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Spotify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Unlock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3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645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ai101/icons/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8516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how it predicts traffic in real time along a route.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137160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645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ai101/icons/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18516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4652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two audiences — compare the responses: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46520" y="292608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5F9FC"/>
          </a:solidFill>
          <a:ln/>
        </p:spPr>
      </p:sp>
      <p:sp>
        <p:nvSpPr>
          <p:cNvPr id="14" name="Text 10"/>
          <p:cNvSpPr/>
          <p:nvPr/>
        </p:nvSpPr>
        <p:spPr>
          <a:xfrm>
            <a:off x="6629400" y="29260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gravity to a Grade 5 student.”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46520" y="393192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5F9FC"/>
          </a:solidFill>
          <a:ln/>
        </p:spPr>
      </p:sp>
      <p:sp>
        <p:nvSpPr>
          <p:cNvPr id="16" name="Text 12"/>
          <p:cNvSpPr/>
          <p:nvPr/>
        </p:nvSpPr>
        <p:spPr>
          <a:xfrm>
            <a:off x="6629400" y="393192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gravity to a college student.”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397764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/>
        </p:spPr>
      </p:sp>
      <p:sp>
        <p:nvSpPr>
          <p:cNvPr id="18" name="Text 14"/>
          <p:cNvSpPr/>
          <p:nvPr/>
        </p:nvSpPr>
        <p:spPr>
          <a:xfrm>
            <a:off x="914400" y="397764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why Prompt Engineering matters.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– Share Activity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five AI systems you used before coming to school today.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09848" y="3840480"/>
            <a:ext cx="16002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438248" y="315468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ai101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148" y="34975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26768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781648" y="3840480"/>
            <a:ext cx="16002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410048" y="315468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ai101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948" y="349758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98568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381848" y="315468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ai101/icons/sh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748" y="349758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70368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20140" y="1897380"/>
            <a:ext cx="594360" cy="594360"/>
          </a:xfrm>
          <a:prstGeom prst="ellipse">
            <a:avLst/>
          </a:prstGeom>
          <a:solidFill>
            <a:srgbClr val="1FA87A"/>
          </a:solidFill>
          <a:ln/>
        </p:spPr>
      </p:sp>
      <p:pic>
        <p:nvPicPr>
          <p:cNvPr id="5" name="Image 0" descr="/home/claude/ai101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871" y="203111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737360"/>
            <a:ext cx="9235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everywhere.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20140" y="2994660"/>
            <a:ext cx="594360" cy="594360"/>
          </a:xfrm>
          <a:prstGeom prst="ellipse">
            <a:avLst/>
          </a:prstGeom>
          <a:solidFill>
            <a:srgbClr val="1FA87A"/>
          </a:solidFill>
          <a:ln/>
        </p:spPr>
      </p:sp>
      <p:pic>
        <p:nvPicPr>
          <p:cNvPr id="9" name="Image 1" descr="/home/claude/ai101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871" y="3128391"/>
            <a:ext cx="326898" cy="3268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2834640"/>
            <a:ext cx="9235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evolved over many decades.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120140" y="4091940"/>
            <a:ext cx="594360" cy="594360"/>
          </a:xfrm>
          <a:prstGeom prst="ellipse">
            <a:avLst/>
          </a:prstGeom>
          <a:solidFill>
            <a:srgbClr val="1FA87A"/>
          </a:solidFill>
          <a:ln/>
        </p:spPr>
      </p:sp>
      <p:pic>
        <p:nvPicPr>
          <p:cNvPr id="13" name="Image 2" descr="/home/claude/ai101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871" y="4225671"/>
            <a:ext cx="326898" cy="3268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65960" y="3931920"/>
            <a:ext cx="9235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today is Narrow AI.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120140" y="5189220"/>
            <a:ext cx="594360" cy="594360"/>
          </a:xfrm>
          <a:prstGeom prst="ellipse">
            <a:avLst/>
          </a:prstGeom>
          <a:solidFill>
            <a:srgbClr val="1FA87A"/>
          </a:solidFill>
          <a:ln/>
        </p:spPr>
      </p:sp>
      <p:pic>
        <p:nvPicPr>
          <p:cNvPr id="17" name="Image 3" descr="/home/claude/ai101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871" y="5322951"/>
            <a:ext cx="326898" cy="3268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65960" y="5029200"/>
            <a:ext cx="9235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humans — not replaces them completely.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" y="571500"/>
            <a:ext cx="960120" cy="96012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3" name="Image 0" descr="/home/claude/ai101/icons/he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811530"/>
            <a:ext cx="4800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594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933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96596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AI.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770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25880" y="274320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introduced the idea that machines could think?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5478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25880" y="352044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three types of AI.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432511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25880" y="429768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three AI applications.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51023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5102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25880" y="5074920"/>
            <a:ext cx="9875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ChatGPT considered Narrow AI?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minutes · write a short paragraph individually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240280"/>
            <a:ext cx="914400" cy="914400"/>
          </a:xfrm>
          <a:prstGeom prst="ellipse">
            <a:avLst/>
          </a:prstGeom>
          <a:solidFill>
            <a:srgbClr val="2FE6C4"/>
          </a:solidFill>
          <a:ln/>
        </p:spPr>
      </p:sp>
      <p:pic>
        <p:nvPicPr>
          <p:cNvPr id="6" name="Image 0" descr="/home/claude/ai101/icons/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1488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“Before today's lesson, what did you think Artificial Intelligence was? After learning about its history, types, and applications, how has your understanding changed?”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Output: AI Around 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Assignment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18059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ai101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19773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how AI is already integrated into everyday life by examining five apps or tools you personally use.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508760"/>
            <a:ext cx="5440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B44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3660" y="18059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ai101/icons/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19773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Table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55080" y="25146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5 AI apps: what it does, its AI type (Narrow / AGI / ASI), and why.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42900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0B1F3A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35661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a 200–300 word reflection covering: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914400" y="3913632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AI application do you use most, and why?     •  How has AI made daily life easier?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risks or concerns do you have?     •  How will AI continue to influence society?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50292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18" name="Text 14"/>
          <p:cNvSpPr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Handwritten or typed (PDF/DOCX)   •   Due: Before the start of Week 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· Week 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1245</Words>
  <Application>Microsoft Office PowerPoint</Application>
  <PresentationFormat>Widescreen</PresentationFormat>
  <Paragraphs>250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 laurence Enarin</cp:lastModifiedBy>
  <cp:revision>2</cp:revision>
  <dcterms:created xsi:type="dcterms:W3CDTF">2026-07-30T01:47:45Z</dcterms:created>
  <dcterms:modified xsi:type="dcterms:W3CDTF">2026-08-04T23:41:15Z</dcterms:modified>
</cp:coreProperties>
</file>