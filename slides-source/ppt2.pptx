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14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back. Today we move from what AI is to the different specialties inside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today's session in the course learning outcome and the guiding question for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outcomes briefly; students should keep these in mind throughout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flow of the 3-hour session so students know what's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question and let a few students answer before moving on — this reinforces prior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all six technologies without explanation. Most students will say they all use the same type of AI — correct them gently and transition into today's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medicine analogy to make the concept of AI branches concrete before showing the tree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explanation conceptual and avoid discussing algorithms — Week 3 is dedicated to Machine Learning. Show YouTube recommendations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 live demo: translate a sentence, then ask ChatGPT to summarize a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Face Unlock live if possible, or show image recognition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Facilitate the discussion questions — guide students to see robotics and AI as related but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both the strengths (consistency) and limitations (no learning unless updated) of expert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quick recap before moving into sector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into the applications section — healthcare, business, and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about hospitals they know that use digital health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examples to students' own online shopping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'Should AI replace teachers?' as an open discussion, not a question with one right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work in pairs to identify which AI branch applies to each scenario and explain their reasoning to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recall check before the reflection and learning output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and submit a short written reflection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students may work individually or in pairs, and choose a technology from the list or propose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 of the report structure so expectations are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rubric so students know exactly how the assignment will be graded.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ai101_week2/icons/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96012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24160" y="219456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1" descr="/home/claude/ai101_week2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344" y="2523744"/>
            <a:ext cx="713232" cy="71323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63940" y="2720340"/>
            <a:ext cx="960120" cy="9601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7" name="Image 2" descr="/home/claude/ai101_week2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970" y="2960370"/>
            <a:ext cx="480060" cy="480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BRANCHES AND APPLICATIONS OF AI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94360" y="2331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and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AI</a:t>
            </a:r>
            <a:endParaRPr lang="en-US" sz="4600" dirty="0"/>
          </a:p>
        </p:txBody>
      </p:sp>
      <p:sp>
        <p:nvSpPr>
          <p:cNvPr id="10" name="Text 5"/>
          <p:cNvSpPr/>
          <p:nvPr/>
        </p:nvSpPr>
        <p:spPr>
          <a:xfrm>
            <a:off x="640080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specialties inside Artificial Intelligence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40080" y="4892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Natural Language Processing · Computer Vision · Robotics · Expert Systems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" y="1741932"/>
            <a:ext cx="868680" cy="86868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5" name="Image 0" descr="/home/claude/ai101_week2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959102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6916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 (CLO1)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057400" y="205740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basic concepts, scope, and evolution of Artificial Intelligence.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82980" y="34518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i101_week2/icons/he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366903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Goal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057400" y="374904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major branches of AI, and how are they applied across different sectors such as healthcare, business, and education?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students should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8096" y="19933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i101_week2/icons/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9" y="2129455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84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major branches of Artificial Intelligence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68096" y="288950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ai101_week2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59" y="3025567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ML, NLP, Robotics, Expert Systems, and Computer Vision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768096" y="37856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/home/claude/ai101_week2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59" y="3921679"/>
            <a:ext cx="294803" cy="2948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77647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branch of AI powers different real-world technologies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768096" y="4681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/home/claude/ai101_week2/icons/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59" y="4817791"/>
            <a:ext cx="294803" cy="2948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46725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AI improves healthcare, business, and education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768096" y="5577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/home/claude/ai101_week2/icons/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59" y="5713903"/>
            <a:ext cx="294803" cy="2948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08760" y="556869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which AI branch best solves a given problem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session · 180 minutes total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EAF2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Week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828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286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EAF2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EA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576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Think–Share Activity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657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828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69880" y="1828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2860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EAF2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2860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69880" y="2286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27432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7432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Output Discussion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469880" y="2743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32004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EA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200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/ Q&amp;A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69880" y="3200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" y="571500"/>
            <a:ext cx="960120" cy="9601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ai101_week2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81153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Review — Week 1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30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10312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29992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297180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types of AI?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3867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25880" y="384048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AI application you used today.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25880" y="470916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ChatGPT considered Narrow AI?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all of these use the same type of AI?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21945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i101_week2/icons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3888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737360"/>
            <a:ext cx="1965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5112" y="17373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22292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i101_week2/icons/cars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602" y="238887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05272" y="1737360"/>
            <a:ext cx="1965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10144" y="17373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07324" y="21945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ai101_week2/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634" y="238887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90304" y="1737360"/>
            <a:ext cx="1965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685032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37260" y="414223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ai101_week2/icons/steth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570" y="4336542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20240" y="3685032"/>
            <a:ext cx="1965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Robot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25112" y="3685032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22292" y="414223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/home/claude/ai101_week2/icons/transl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6602" y="4336542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05272" y="3685032"/>
            <a:ext cx="1965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10144" y="3685032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07324" y="414223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/home/claude/ai101_week2/icons/vid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1634" y="4336542"/>
            <a:ext cx="388620" cy="3886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90304" y="3685032"/>
            <a:ext cx="1965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all use AI — but different branches of AI.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Branches of AI?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" y="17145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i101_week2/icons/steth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9316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like Medicine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is one field. Inside it are specialists: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Cardiologists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8872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Neurologists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8720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Pediatricians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4572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Similarly, Artificial Intelligence has specialists called branches.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0936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2487168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69480" y="22860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726948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0" y="3145536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69480" y="2944368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7269480" y="2944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0" y="3803904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3602736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7269480" y="36027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0" y="4462272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69480" y="4261104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7269480" y="426110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0" y="5120640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69480" y="491947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7" name="Text 24"/>
          <p:cNvSpPr/>
          <p:nvPr/>
        </p:nvSpPr>
        <p:spPr>
          <a:xfrm>
            <a:off x="7269480" y="49194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58000" y="2011680"/>
            <a:ext cx="0" cy="31089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_week2/icons/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8915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BRANCH · 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331720" y="960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1: Machine Learning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4884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enables computers to learn patterns from data instead of being explicitly programmed for every situation.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_week2/icons/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4119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24028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_week2/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44119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79476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ai101_week2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220" y="44119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32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34924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/home/claude/ai101_week2/icons/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4119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086600" y="214884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/>
        </p:spPr>
      </p:sp>
      <p:sp>
        <p:nvSpPr>
          <p:cNvPr id="22" name="Shape 15"/>
          <p:cNvSpPr/>
          <p:nvPr/>
        </p:nvSpPr>
        <p:spPr>
          <a:xfrm>
            <a:off x="7406640" y="246888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3" name="Image 5" descr="/home/claude/ai101_week2/icons/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380" y="267462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3337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452360" y="4343400"/>
            <a:ext cx="3749040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092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doesn't everyone's homepage look the same?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ai101_week2/icons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8915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BRANCH · 02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331720" y="960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2: Natural Language Processing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4884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allows computers to understand and generate human language — written or spoken.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_week2/icons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4119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24028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_week2/icons/tran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740" y="44119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79476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ai101_week2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220" y="44119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32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34924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/home/claude/ai101_week2/icons/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44119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086600" y="214884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/>
        </p:spPr>
      </p:sp>
      <p:sp>
        <p:nvSpPr>
          <p:cNvPr id="22" name="Shape 15"/>
          <p:cNvSpPr/>
          <p:nvPr/>
        </p:nvSpPr>
        <p:spPr>
          <a:xfrm>
            <a:off x="7406640" y="246888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3" name="Image 5" descr="/home/claude/ai101_week2/icons/vide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380" y="267462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3337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452360" y="4343400"/>
            <a:ext cx="3749040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092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observe AI processing language.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_week2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8915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BRANCH · 03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331720" y="960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3: Computer Vision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4884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allows computers to interpret images and videos.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_week2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4119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24028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_week2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44119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Analytics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79476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ai101_week2/icons/steth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220" y="44119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32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34924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/home/claude/ai101_week2/icons/carsi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4119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086600" y="214884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/>
        </p:spPr>
      </p:sp>
      <p:sp>
        <p:nvSpPr>
          <p:cNvPr id="22" name="Shape 15"/>
          <p:cNvSpPr/>
          <p:nvPr/>
        </p:nvSpPr>
        <p:spPr>
          <a:xfrm>
            <a:off x="7406640" y="246888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3" name="Image 5" descr="/home/claude/ai101_week2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267462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3337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452360" y="4343400"/>
            <a:ext cx="3749040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092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camera “see” what it's looking at?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ai101_week2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8915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BRANCH · 04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331720" y="960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4: Robotics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4884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combines AI with physical machines that interact with the real world.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_week2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4119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Robots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24028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_week2/icons/stethosco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44119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Robots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79476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ai101_week2/icons/carsi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220" y="44119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32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Robots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34924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/home/claude/ai101_week2/icons/sett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4119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086600" y="214884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/>
        </p:spPr>
      </p:sp>
      <p:sp>
        <p:nvSpPr>
          <p:cNvPr id="22" name="Shape 15"/>
          <p:cNvSpPr/>
          <p:nvPr/>
        </p:nvSpPr>
        <p:spPr>
          <a:xfrm>
            <a:off x="7406640" y="246888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3" name="Image 5" descr="/home/claude/ai101_week2/icons/vid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2380" y="267462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3337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452360" y="4343400"/>
            <a:ext cx="3749040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092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robotics are related — but not identical.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_week2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8915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BRANCH · 05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331720" y="960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5: Expert Systems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4884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 imitate the decision-making of human experts using predefined knowledge and rules.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_week2/icons/stethosc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4119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24028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_week2/icons/file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44119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Advisory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794760" y="4160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ai101_week2/icons/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220" y="44119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32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Troubleshooting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349240" y="4160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/home/claude/ai101_week2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44119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5212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Rules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086600" y="214884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/>
        </p:spPr>
      </p:sp>
      <p:sp>
        <p:nvSpPr>
          <p:cNvPr id="22" name="Shape 15"/>
          <p:cNvSpPr/>
          <p:nvPr/>
        </p:nvSpPr>
        <p:spPr>
          <a:xfrm>
            <a:off x="7406640" y="246888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3" name="Image 5" descr="/home/claude/ai101_week2/icons/vide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380" y="267462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3337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consistent decisions.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doesn't learn unless updated.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452360" y="4343400"/>
            <a:ext cx="3749040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092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in — expert-level answers out.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057400" cy="33832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11580" y="19202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i101_week2/icons/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931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data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16936" y="1508760"/>
            <a:ext cx="2057400" cy="33832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88436" y="1920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_week2/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036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54096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054096" y="3931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human language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193792" y="1508760"/>
            <a:ext cx="2057400" cy="33832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65292" y="19202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ai101_week2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892" y="2148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30952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330952" y="3931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images &amp; video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70648" y="1508760"/>
            <a:ext cx="2057400" cy="33832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2148" y="1920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ai101_week2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748" y="21488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07808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607808" y="3931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physical machines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747504" y="1508760"/>
            <a:ext cx="2057400" cy="33832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319004" y="19202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ai101_week2/icons/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7604" y="21488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84664" y="3017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884664" y="3931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expert decisions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32608" y="27432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_week2/icons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08" y="3086100"/>
            <a:ext cx="685800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10048" y="274320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1" descr="/home/claude/ai101_week2/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948" y="3086100"/>
            <a:ext cx="685800" cy="685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87488" y="2743200"/>
            <a:ext cx="1371600" cy="137160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7" name="Image 2" descr="/home/claude/ai101_week2/icons/graduation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388" y="3086100"/>
            <a:ext cx="685800" cy="685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ACROSS SECTORS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0" y="23774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 ·  Business  ·  Education</a:t>
            </a:r>
            <a:endParaRPr lang="en-US" sz="340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52578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_week2/icons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78867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82980" y="23088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/home/claude/ai101_week2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" y="2503170"/>
            <a:ext cx="388620" cy="3886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76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92024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patterns humans might miss.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35040" y="20116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77940" y="23088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ai101_week2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50317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2176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31520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analyzed for early detection.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82980" y="39547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ai101_week2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290" y="414909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92024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and testing.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035040" y="36576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77940" y="39547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ai101_week2/icons/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414909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Health Assistants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31520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triage and patient support.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hospitals do you know that use digital health technologies?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525780"/>
            <a:ext cx="1051560" cy="10515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ai101_week2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78867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82980" y="23088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/home/claude/ai101_week2/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" y="2503170"/>
            <a:ext cx="388620" cy="3886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76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Chatbots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92024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answers, any time of day.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35040" y="20116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77940" y="23088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ai101_week2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50317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2176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31520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suspicious transactions fast.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82980" y="39547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/home/claude/ai101_week2/icons/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290" y="414909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92024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demand from past trends.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035040" y="36576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77940" y="39547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/home/claude/ai101_week2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414909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31520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stock levels optimized.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your last online shopping experience — where was AI at work?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525780"/>
            <a:ext cx="1051560" cy="10515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ai101_week2/icons/graduation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78867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82980" y="2308860"/>
            <a:ext cx="777240" cy="77724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7" name="Image 1" descr="/home/claude/ai101_week2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" y="2503170"/>
            <a:ext cx="388620" cy="3886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76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92024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pace and content to each student.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35040" y="20116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77940" y="2308860"/>
            <a:ext cx="777240" cy="77724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2" name="Image 2" descr="/home/claude/ai101_week2/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50317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2176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31520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help outside class hours.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82980" y="3954780"/>
            <a:ext cx="777240" cy="77724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7" name="Image 3" descr="/home/claude/ai101_week2/icons/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290" y="414909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Grading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92024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feedback.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035040" y="36576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77940" y="3954780"/>
            <a:ext cx="777240" cy="77724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2" name="Image 4" descr="/home/claude/ai101_week2/icons/bar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414909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31520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progress to guide instruction.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49231"/>
            </a:avLst>
          </a:prstGeom>
          <a:solidFill>
            <a:srgbClr val="0B1F3A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Should AI replace teachers?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" y="571500"/>
            <a:ext cx="960120" cy="9601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ai101_week2/icons/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81153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94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Think–Share: Which Branch Solves It?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identify the branch of AI used in each scenario — and why.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22631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ai101_week2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236601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1488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a smartphone with your face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297180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</p:sp>
      <p:sp>
        <p:nvSpPr>
          <p:cNvPr id="11" name="Shape 7"/>
          <p:cNvSpPr/>
          <p:nvPr/>
        </p:nvSpPr>
        <p:spPr>
          <a:xfrm>
            <a:off x="1005840" y="30861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ai101_week2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" y="318897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29718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a movie on Netflix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40080" y="37947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5840" y="39090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ai101_week2/icons/tran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710" y="401193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3794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English into Filipino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61772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</p:sp>
      <p:sp>
        <p:nvSpPr>
          <p:cNvPr id="19" name="Shape 13"/>
          <p:cNvSpPr/>
          <p:nvPr/>
        </p:nvSpPr>
        <p:spPr>
          <a:xfrm>
            <a:off x="1005840" y="47320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/home/claude/ai101_week2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710" y="483489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91640" y="46177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 robot moving packages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</p:sp>
      <p:sp>
        <p:nvSpPr>
          <p:cNvPr id="23" name="Shape 16"/>
          <p:cNvSpPr/>
          <p:nvPr/>
        </p:nvSpPr>
        <p:spPr>
          <a:xfrm>
            <a:off x="1005840" y="5554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5" descr="/home/claude/ai101_week2/icons/stethosco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" y="565785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91640" y="54406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system suggesting possible diseases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" y="48006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_week2/icons/he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72009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02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928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892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8745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Machine Learning?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2560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branch processes human language?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32644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64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32461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branch recognizes faces?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9502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950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39319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of Robotics.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40080" y="46360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36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46177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of an Expert System.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40080" y="53218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321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3035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branch would power an AI translator?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– Application – Reflection (EAR)  ·  submit a short written reflection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240280"/>
            <a:ext cx="914400" cy="91440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6" name="Image 0" descr="/home/claude/ai101_week2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03120"/>
            <a:ext cx="8595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branch of AI do you believe has the greatest impact on your future career or daily life? Explain your answer using at least two real-world examples.”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Output: AI Branch Investigation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or in pairs — instructor's choice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1641348"/>
            <a:ext cx="777240" cy="77724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6" name="Image 0" descr="/home/claude/ai101_week2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1835658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508760"/>
            <a:ext cx="9418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Objective: Demonstrate understanding of the major branches of AI by analyzing how they are used in real-world technologies.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AI-powered technology: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34056" y="315468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12" name="Text 9"/>
          <p:cNvSpPr/>
          <p:nvPr/>
        </p:nvSpPr>
        <p:spPr>
          <a:xfrm>
            <a:off x="2734056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28032" y="315468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14" name="Text 11"/>
          <p:cNvSpPr/>
          <p:nvPr/>
        </p:nvSpPr>
        <p:spPr>
          <a:xfrm>
            <a:off x="4828032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22008" y="315468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16" name="Text 13"/>
          <p:cNvSpPr/>
          <p:nvPr/>
        </p:nvSpPr>
        <p:spPr>
          <a:xfrm>
            <a:off x="692200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15984" y="315468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18" name="Text 15"/>
          <p:cNvSpPr/>
          <p:nvPr/>
        </p:nvSpPr>
        <p:spPr>
          <a:xfrm>
            <a:off x="9015984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785616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7856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34056" y="3785616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22" name="Text 19"/>
          <p:cNvSpPr/>
          <p:nvPr/>
        </p:nvSpPr>
        <p:spPr>
          <a:xfrm>
            <a:off x="2734056" y="37856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28032" y="3785616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24" name="Text 21"/>
          <p:cNvSpPr/>
          <p:nvPr/>
        </p:nvSpPr>
        <p:spPr>
          <a:xfrm>
            <a:off x="4828032" y="37856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22008" y="3785616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26" name="Text 23"/>
          <p:cNvSpPr/>
          <p:nvPr/>
        </p:nvSpPr>
        <p:spPr>
          <a:xfrm>
            <a:off x="6922008" y="37856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015984" y="3785616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28" name="Text 25"/>
          <p:cNvSpPr/>
          <p:nvPr/>
        </p:nvSpPr>
        <p:spPr>
          <a:xfrm>
            <a:off x="9015984" y="37856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0080" y="4416552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EAF2F8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4416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Magic Studio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008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...or another technology approved by your instructor.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page report or infographic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9888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i101_week2/icons/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21831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Technology Overview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9319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 Who developed it? What problem does it solve?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6936" y="160020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9888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i101_week2/icons/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326" y="21831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54096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Branch Analysis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54096" y="39319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primary AI branch used and explain why.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93792" y="160020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33872" y="19888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i101_week2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182" y="21831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30952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Supporting Branches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30952" y="39319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other branches involved and how they work together.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470648" y="160020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10728" y="19888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ai101_week2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038" y="218313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7808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Benefits &amp; Challenges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607808" y="39319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benefits; two limitations or ethical concerns.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747504" y="160020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87584" y="19888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ai101_week2/icons/ed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1894" y="218313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84664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Personal Reflection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884664" y="39319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250–300 words: how would its disappearance affect you?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Rubric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points total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explanation of AI branch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0" y="202996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E1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202996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37844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analysis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0" y="280720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E1EAF2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807208"/>
            <a:ext cx="304800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0378440" y="2697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and ethical discussion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83680" y="358444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E1EA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3584448"/>
            <a:ext cx="243840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0378440" y="3474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3680" y="436168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E1EA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436168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0378440" y="4251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Organization, visuals, grammar, and citations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83680" y="513892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E1EA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5138928"/>
            <a:ext cx="121920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10378440" y="5029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1572</Words>
  <Application>Microsoft Office PowerPoint</Application>
  <PresentationFormat>Widescreen</PresentationFormat>
  <Paragraphs>313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 laurence Enarin</cp:lastModifiedBy>
  <cp:revision>2</cp:revision>
  <dcterms:created xsi:type="dcterms:W3CDTF">2026-07-30T02:59:59Z</dcterms:created>
  <dcterms:modified xsi:type="dcterms:W3CDTF">2026-08-12T07:21:17Z</dcterms:modified>
</cp:coreProperties>
</file>