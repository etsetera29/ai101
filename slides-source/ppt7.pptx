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image" Target="../media/image-12-7.png"/><Relationship Id="rId8" Type="http://schemas.openxmlformats.org/officeDocument/2006/relationships/image" Target="../media/image-12-7.png"/><Relationship Id="rId9" Type="http://schemas.openxmlformats.org/officeDocument/2006/relationships/image" Target="../media/image-12-7.png"/><Relationship Id="rId10" Type="http://schemas.openxmlformats.org/officeDocument/2006/relationships/image" Target="../media/image-12-7.png"/><Relationship Id="rId11" Type="http://schemas.openxmlformats.org/officeDocument/2006/relationships/image" Target="../media/image-12-7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2.png"/><Relationship Id="rId5" Type="http://schemas.openxmlformats.org/officeDocument/2006/relationships/image" Target="../media/image-14-5.png"/><Relationship Id="rId6" Type="http://schemas.openxmlformats.org/officeDocument/2006/relationships/image" Target="../media/image-14-2.png"/><Relationship Id="rId7" Type="http://schemas.openxmlformats.org/officeDocument/2006/relationships/image" Target="../media/image-14-7.png"/><Relationship Id="rId8" Type="http://schemas.openxmlformats.org/officeDocument/2006/relationships/image" Target="../media/image-14-2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home/claude/ppt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0081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961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of AI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w/ Prompt Engineering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68680" y="4160520"/>
            <a:ext cx="128016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343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·  Bias, Ethics, and Fair Use in AI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students should be able 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75104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289" y="2094433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745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AI bias 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752344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85292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" y="2972257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52344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sources of bias in AI systems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630168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373075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/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89" y="3850081"/>
            <a:ext cx="291694" cy="291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630168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fairness in AI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48640" y="4507992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2960" y="460857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ppt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" y="4727905"/>
            <a:ext cx="291694" cy="291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4507992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responsible use of AI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5385816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548640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ppt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89" y="5605729"/>
            <a:ext cx="291694" cy="2916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5385816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academic integrity issues involving AI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AI Bias?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74421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5760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bias occurs when a system produces systematically unequal or skewed results for certain groups or situations.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affect the accuracy, fairness, and trustworthiness of AI-generated results.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appears because AI systems learn patterns from data and design choices made by people — not because AI reasons neutrally.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0" y="1600200"/>
            <a:ext cx="5074920" cy="28803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18745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03720" y="2286000"/>
            <a:ext cx="4434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photo-tagging app trained mostly on one skin tone misidentifies people with darker skin tones far more often — not because it was told to, but because of what it learned from.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CADCFC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5257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/icons/inf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54063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507492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automation does not remove bias — it can just make it harder to see.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AI Bias Come From?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4944" y="1965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544" y="24003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5237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55064" y="196596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or incomplete training data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79976" y="1965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08576" y="24003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52374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0096" y="196596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assumptions and decisions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65008" y="1965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93608" y="24003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2" y="252374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25128" y="196596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/ social biases in data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94944" y="3639312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23544" y="40736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ppt/icons/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4197096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55064" y="3639312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imbalance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79976" y="3639312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08576" y="40736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ppt/icons/slid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197096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0096" y="3639312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algorithmic choices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AI Bias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6364" y="187452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266444" y="219456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pp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324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804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Systems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57500" y="187452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3497580" y="219456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0" name="Image 1" descr="/home/claude/ppt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3774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48940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88636" y="187452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5728716" y="219456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4" name="Image 2" descr="/home/claude/ppt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23774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80076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19772" y="187452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7" name="Shape 12"/>
          <p:cNvSpPr/>
          <p:nvPr/>
        </p:nvSpPr>
        <p:spPr>
          <a:xfrm>
            <a:off x="7959852" y="219456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3" descr="/home/claude/ppt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32" y="23774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11212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550908" y="187452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21" name="Shape 15"/>
          <p:cNvSpPr/>
          <p:nvPr/>
        </p:nvSpPr>
        <p:spPr>
          <a:xfrm>
            <a:off x="10190988" y="219456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4" descr="/home/claude/ppt/icons/bo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3868" y="23774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42348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Technologies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48640" y="434340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25" name="Shape 18"/>
          <p:cNvSpPr/>
          <p:nvPr/>
        </p:nvSpPr>
        <p:spPr>
          <a:xfrm>
            <a:off x="777240" y="450799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ppt/icons/inf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656582"/>
            <a:ext cx="297180" cy="2971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554480" y="434340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necessarily produce neutral results simply because it is automated.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Fairness in AI?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74421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5760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means treating people and groups equally and appropriately, without systematically favoring or disadvantaging any of them.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matters because AI decisions can affect real opportunities — jobs, grades, loans, and more.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is not the same as accuracy: a model can be accurate overall while still being unfair to a specific group.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0" y="1600200"/>
            <a:ext cx="5074920" cy="28803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18745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FAIRNESS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03720" y="2286000"/>
            <a:ext cx="4434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asks: "How often is the system right overall?"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asks: "Is the system right in the same way for everyone?"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can score well on one and still fail the other.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CADCFC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5257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/icons/inf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54063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507492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treatment means everyone gets equal and appropriate consideration — not identical treatment regardless of context.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vs. Fairness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22376" y="169164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E8E9F0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2011680"/>
            <a:ext cx="594360" cy="594360"/>
          </a:xfrm>
          <a:prstGeom prst="ellipse">
            <a:avLst/>
          </a:prstGeom>
          <a:solidFill>
            <a:srgbClr val="5A6180"/>
          </a:solidFill>
          <a:ln/>
        </p:spPr>
      </p:sp>
      <p:pic>
        <p:nvPicPr>
          <p:cNvPr id="6" name="Image 0" descr="/home/claude/pp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006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9656" y="2075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BIAS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88136" y="3035808"/>
            <a:ext cx="128016" cy="128016"/>
          </a:xfrm>
          <a:prstGeom prst="ellipse">
            <a:avLst/>
          </a:prstGeom>
          <a:solidFill>
            <a:srgbClr val="5A6180"/>
          </a:solidFill>
          <a:ln/>
        </p:spPr>
      </p:sp>
      <p:sp>
        <p:nvSpPr>
          <p:cNvPr id="9" name="Text 6"/>
          <p:cNvSpPr/>
          <p:nvPr/>
        </p:nvSpPr>
        <p:spPr>
          <a:xfrm>
            <a:off x="1362456" y="292608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produce systematically different outcomes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88136" y="3858768"/>
            <a:ext cx="128016" cy="128016"/>
          </a:xfrm>
          <a:prstGeom prst="ellipse">
            <a:avLst/>
          </a:prstGeom>
          <a:solidFill>
            <a:srgbClr val="5A6180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374904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come from data or design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88136" y="4681728"/>
            <a:ext cx="128016" cy="128016"/>
          </a:xfrm>
          <a:prstGeom prst="ellipse">
            <a:avLst/>
          </a:prstGeom>
          <a:solidFill>
            <a:srgbClr val="5A6180"/>
          </a:solidFill>
          <a:ln/>
        </p:spPr>
      </p:sp>
      <p:sp>
        <p:nvSpPr>
          <p:cNvPr id="13" name="Text 10"/>
          <p:cNvSpPr/>
          <p:nvPr/>
        </p:nvSpPr>
        <p:spPr>
          <a:xfrm>
            <a:off x="1362456" y="457200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intentional or unintentional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54496" y="169164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6574536" y="201168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1" descr="/home/claude/ppt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126" y="2160270"/>
            <a:ext cx="297180" cy="2971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51776" y="2075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FAIRNESS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6620256" y="303580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5"/>
          <p:cNvSpPr/>
          <p:nvPr/>
        </p:nvSpPr>
        <p:spPr>
          <a:xfrm>
            <a:off x="6894576" y="292608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Seeks more equitable outcomes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620256" y="385876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/>
          <p:nvPr/>
        </p:nvSpPr>
        <p:spPr>
          <a:xfrm>
            <a:off x="6894576" y="374904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identifying and addressing unfairness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620256" y="468172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19"/>
          <p:cNvSpPr/>
          <p:nvPr/>
        </p:nvSpPr>
        <p:spPr>
          <a:xfrm>
            <a:off x="6894576" y="457200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responsible system behavior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 that guide responsible AI use: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" y="19659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2061972" y="2221992"/>
            <a:ext cx="694944" cy="69494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pp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708" y="23957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2104" y="3017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79976" y="19659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5747004" y="2221992"/>
            <a:ext cx="694944" cy="69494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ppt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0" y="23957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3017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65008" y="19659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9432036" y="2221992"/>
            <a:ext cx="694944" cy="69494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5" name="Image 2" descr="/home/claude/ppt/icons/user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772" y="239572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02168" y="3017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94944" y="3822192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8" name="Shape 13"/>
          <p:cNvSpPr/>
          <p:nvPr/>
        </p:nvSpPr>
        <p:spPr>
          <a:xfrm>
            <a:off x="2061972" y="4078224"/>
            <a:ext cx="694944" cy="69494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3" descr="/home/claude/ppt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708" y="425196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2104" y="48737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379976" y="3822192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2" name="Shape 16"/>
          <p:cNvSpPr/>
          <p:nvPr/>
        </p:nvSpPr>
        <p:spPr>
          <a:xfrm>
            <a:off x="5747004" y="4078224"/>
            <a:ext cx="694944" cy="69494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3" name="Image 4" descr="/home/claude/ppt/icons/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740" y="425196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17136" y="48737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8065008" y="3822192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6" name="Shape 19"/>
          <p:cNvSpPr/>
          <p:nvPr/>
        </p:nvSpPr>
        <p:spPr>
          <a:xfrm>
            <a:off x="9432036" y="4078224"/>
            <a:ext cx="694944" cy="69494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7" name="Image 5" descr="/home/claude/ppt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5772" y="4251960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202168" y="48737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Use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Oversight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should remain involved when using AI: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2135124"/>
            <a:ext cx="301752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08760" y="267004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08760" y="193852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make mistakes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/icons/inf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912364"/>
            <a:ext cx="301752" cy="30175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08760" y="344728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508760" y="271576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produce misleading information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689604"/>
            <a:ext cx="301752" cy="30175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508760" y="422452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508760" y="349300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 lack context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40080" y="4343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ppt/icons/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4466844"/>
            <a:ext cx="301752" cy="30175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508760" y="500176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508760" y="427024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responsible for decisions made using AI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53492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22" name="Shape 16"/>
          <p:cNvSpPr/>
          <p:nvPr/>
        </p:nvSpPr>
        <p:spPr>
          <a:xfrm>
            <a:off x="777240" y="550468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3" name="Image 4" descr="/home/claude/ppt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64184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534924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supports decisions — it should never replace human judgment.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Use of Generative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practices when using tools such as ChatGPT: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2089404"/>
            <a:ext cx="301752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08760" y="262432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08760" y="189280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as an assistance tool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866644"/>
            <a:ext cx="301752" cy="30175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08760" y="340156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508760" y="267004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important information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643884"/>
            <a:ext cx="301752" cy="30175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508760" y="417880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508760" y="344728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misleading or harmful use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ppt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4421124"/>
            <a:ext cx="301752" cy="30175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508760" y="495604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508760" y="422452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private information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ppt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5198364"/>
            <a:ext cx="301752" cy="30175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508760" y="573328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508760" y="500176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institutional rules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and Academic Integrity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 every student should understand: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" y="19659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98548" y="22219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996" y="23774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2971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academic integrity?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79976" y="19659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3580" y="22219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28" y="23774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971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 vs. AI-generated work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65008" y="19659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68612" y="22219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/icons/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0" y="237744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47888" y="2971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AI use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94944" y="3822192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098548" y="407822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ppt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996" y="423367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7824" y="4828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Misrepresenting AI-generated work as one's own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379976" y="3822192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783580" y="407822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ppt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028" y="423367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62856" y="4828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instructor / institution policies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Appropriate vs. Inappropriate AI 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22376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6696" y="1965960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0" descr="/home/claude/pp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28216" y="20391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42416" y="2743200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9" name="Image 1" descr="/home/claude/ppt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827" y="2829611"/>
            <a:ext cx="211226" cy="211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91056" y="26517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ideas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042416" y="3401568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2" descr="/home/claude/ppt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827" y="3487979"/>
            <a:ext cx="211226" cy="211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91056" y="331012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explanations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1042416" y="4059936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5" name="Image 3" descr="/home/claude/ppt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827" y="4146347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91056" y="396849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understanding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1042416" y="4718304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8" name="Image 4" descr="/home/claude/ppt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827" y="4804715"/>
            <a:ext cx="211226" cy="21122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91056" y="462686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feedback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1042416" y="5376672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5" descr="/home/claude/ppt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827" y="5463083"/>
            <a:ext cx="211226" cy="21122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91056" y="52852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with learning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6254496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528816" y="19659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5" name="Image 6" descr="/home/claude/ppt/icons/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2260" y="2089404"/>
            <a:ext cx="301752" cy="30175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60336" y="2039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INAPPROPRIATE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574536" y="274320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8" name="Image 7" descr="/home/claude/ppt/icons/x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0947" y="2829611"/>
            <a:ext cx="211226" cy="21122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123176" y="263347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generated work as entirely one's own</a:t>
            </a:r>
            <a:endParaRPr lang="en-US" sz="1400" dirty="0"/>
          </a:p>
        </p:txBody>
      </p:sp>
      <p:sp>
        <p:nvSpPr>
          <p:cNvPr id="30" name="Shape 20"/>
          <p:cNvSpPr/>
          <p:nvPr/>
        </p:nvSpPr>
        <p:spPr>
          <a:xfrm>
            <a:off x="6574536" y="356616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1" name="Image 8" descr="/home/claude/ppt/icons/x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0947" y="3652571"/>
            <a:ext cx="211226" cy="21122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123176" y="345643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when explicitly prohibited</a:t>
            </a:r>
            <a:endParaRPr lang="en-US" sz="1400" dirty="0"/>
          </a:p>
        </p:txBody>
      </p:sp>
      <p:sp>
        <p:nvSpPr>
          <p:cNvPr id="33" name="Shape 22"/>
          <p:cNvSpPr/>
          <p:nvPr/>
        </p:nvSpPr>
        <p:spPr>
          <a:xfrm>
            <a:off x="6574536" y="438912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4" name="Image 9" descr="/home/claude/ppt/icons/x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0947" y="4475531"/>
            <a:ext cx="211226" cy="21122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123176" y="427939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Fabricating sources or information</a:t>
            </a:r>
            <a:endParaRPr lang="en-US" sz="1400" dirty="0"/>
          </a:p>
        </p:txBody>
      </p:sp>
      <p:sp>
        <p:nvSpPr>
          <p:cNvPr id="36" name="Shape 24"/>
          <p:cNvSpPr/>
          <p:nvPr/>
        </p:nvSpPr>
        <p:spPr>
          <a:xfrm>
            <a:off x="6574536" y="521208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7" name="Image 10" descr="/home/claude/ppt/icons/x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0947" y="5298491"/>
            <a:ext cx="211226" cy="211226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7123176" y="510235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to bypass required learning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40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Use and User Responsibility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user, you are responsible 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2089404"/>
            <a:ext cx="301752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08760" y="262432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08760" y="189280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the AI tool is being used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866644"/>
            <a:ext cx="301752" cy="30175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08760" y="340156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508760" y="267004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its output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643884"/>
            <a:ext cx="301752" cy="30175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508760" y="417880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508760" y="344728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rules and policies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ppt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4421124"/>
            <a:ext cx="301752" cy="30175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508760" y="495604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508760" y="422452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possible consequences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ppt/icons/user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5198364"/>
            <a:ext cx="301752" cy="30175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508760" y="5733288"/>
            <a:ext cx="10012680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508760" y="5001768"/>
            <a:ext cx="10012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final judgment themselves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Decision-Making with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process to work through before acting on AI output: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" y="214884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412748" y="235000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7" name="Image 0" descr="/home/claude/ppt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422" y="2481682"/>
            <a:ext cx="321869" cy="3218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30632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28900" y="275234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10" name="Image 1" descr="/home/claude/ppt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394" y="2821838"/>
            <a:ext cx="208483" cy="20848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62656" y="214884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2" name="Shape 8"/>
          <p:cNvSpPr/>
          <p:nvPr/>
        </p:nvSpPr>
        <p:spPr>
          <a:xfrm>
            <a:off x="3607308" y="235000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3" name="Image 2" descr="/home/claude/ppt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982" y="2481682"/>
            <a:ext cx="321869" cy="3218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62656" y="30632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23460" y="275234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16" name="Image 3" descr="/home/claude/ppt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954" y="2821838"/>
            <a:ext cx="208483" cy="208483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57216" y="214884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8" name="Shape 12"/>
          <p:cNvSpPr/>
          <p:nvPr/>
        </p:nvSpPr>
        <p:spPr>
          <a:xfrm>
            <a:off x="5801868" y="235000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9" name="Image 4" descr="/home/claude/ppt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542" y="2481682"/>
            <a:ext cx="321869" cy="32186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57216" y="30632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018020" y="275234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22" name="Image 5" descr="/home/claude/ppt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7514" y="2821838"/>
            <a:ext cx="208483" cy="208483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51776" y="214884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24" name="Shape 16"/>
          <p:cNvSpPr/>
          <p:nvPr/>
        </p:nvSpPr>
        <p:spPr>
          <a:xfrm>
            <a:off x="7996428" y="235000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25" name="Image 6" descr="/home/claude/ppt/icons/balanc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102" y="2481682"/>
            <a:ext cx="321869" cy="321869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351776" y="30632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9212580" y="275234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28" name="Image 7" descr="/home/claude/ppt/icons/arrow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2074" y="2821838"/>
            <a:ext cx="208483" cy="208483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546336" y="214884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F2A93B"/>
          </a:solidFill>
          <a:ln/>
        </p:spPr>
      </p:sp>
      <p:sp>
        <p:nvSpPr>
          <p:cNvPr id="30" name="Shape 20"/>
          <p:cNvSpPr/>
          <p:nvPr/>
        </p:nvSpPr>
        <p:spPr>
          <a:xfrm>
            <a:off x="10190988" y="235000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8" descr="/home/claude/ppt/icons/user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2662" y="2481682"/>
            <a:ext cx="321869" cy="321869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546336" y="30632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548640" y="4160520"/>
            <a:ext cx="11109960" cy="150876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34" name="Text 23"/>
          <p:cNvSpPr/>
          <p:nvPr/>
        </p:nvSpPr>
        <p:spPr>
          <a:xfrm>
            <a:off x="868680" y="4370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SCENARIO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868680" y="4709160"/>
            <a:ext cx="10469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tool suggests a statistic for your report, but you cannot find the original source. Identify the concern, evaluate the risk of using it unverified, verify with a trusted source, decide how to proceed, and take responsibility for what you submit.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Examples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9496" y="1691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" y="196596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pp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9616" y="203911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3816" y="26517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hiring system consistently favors one group.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608576" y="196596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ppt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089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4376" y="203911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08576" y="26517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submits an AI-generated assignment without disclosure.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29016" y="1691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3336" y="196596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/home/claude/ppt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20894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89136" y="203911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03336" y="26517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chatbot provides incorrect information that a user accepts without verification.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11109960" cy="1417320"/>
          </a:xfrm>
          <a:prstGeom prst="roundRect">
            <a:avLst>
              <a:gd name="adj" fmla="val 7742"/>
            </a:avLst>
          </a:prstGeom>
          <a:solidFill>
            <a:srgbClr val="CADCFC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CASE, CONSIDER: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68680" y="4800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is the issue?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526280" y="4800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Who could be affected?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183880" y="4800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would responsible use look like?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3657600" cy="3657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pp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1669694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0876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can contain or reproduce bias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0" name="Image 1" descr="/home/claude/ppt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" y="244693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28600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must be considered when using AI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3108960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2" descr="/home/claude/ppt/icons/user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" y="3224174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06324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not replace human judgment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0080" y="3886200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3" descr="/home/claude/ppt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" y="4001414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84048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responsible for how AI is used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640080" y="4663440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4" descr="/home/claude/ppt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94" y="4778654"/>
            <a:ext cx="281635" cy="28163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461772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 applies to AI-assisted work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640080" y="5440680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5" descr="/home/claude/ppt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" y="5555894"/>
            <a:ext cx="281635" cy="28163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63040" y="539496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requires ethical and critical thinking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Ethics Case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select one AI-related ethical scenario and submit a short written analysis.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6751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77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INCLUDES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ppt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98323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80720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Scenario — briefly describe the situation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5387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64159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465576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Ethical Issue — bias, fairness, responsible AI, or academic integrity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14400" y="41970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299966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123944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Impact — who may be affected, and how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14400" y="4855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ppt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4958334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78231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Responsible Action — what should be done, and why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7452360" y="2103120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20" name="Shape 14"/>
          <p:cNvSpPr/>
          <p:nvPr/>
        </p:nvSpPr>
        <p:spPr>
          <a:xfrm>
            <a:off x="9075420" y="246888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4" descr="/home/claude/ppt/icons/uplo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020" y="26974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26680" y="35661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7818120" y="397764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submitted online through the designated Google Drive.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8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2026-09-13T05:54:41Z</dcterms:created>
  <dcterms:modified xsi:type="dcterms:W3CDTF">2026-09-13T05:54:41Z</dcterms:modified>
</cp:coreProperties>
</file>