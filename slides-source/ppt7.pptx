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51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9052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8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3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2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61C4A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937760"/>
            <a:ext cx="3657600" cy="3657600"/>
          </a:xfrm>
          <a:prstGeom prst="ellipse">
            <a:avLst/>
          </a:prstGeom>
          <a:solidFill>
            <a:srgbClr val="161C4A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822960"/>
            <a:ext cx="822960" cy="82296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5" name="Image 0" descr="/home/claude/ppt/icons/bal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126" y="1008126"/>
            <a:ext cx="452628" cy="4526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83080" y="89611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CLO2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2377440"/>
            <a:ext cx="9601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Fundamentals of AI</a:t>
            </a:r>
            <a:endParaRPr lang="en-US" sz="4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w/ Prompt Engineering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868680" y="4160520"/>
            <a:ext cx="128016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43434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 ·  Bias, Ethics, and Fair Use in AI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EB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of AI w/ Prompt Engineering  |  Week 8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students should be able to: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06070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975104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0" descr="/home/claude/ppt/icons/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289" y="2094433"/>
            <a:ext cx="291694" cy="29169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0200" y="1874520"/>
            <a:ext cx="9326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AI bias is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2752344"/>
            <a:ext cx="106070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2852928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/home/claude/ppt/icons/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289" y="2972257"/>
            <a:ext cx="291694" cy="29169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00200" y="2752344"/>
            <a:ext cx="9326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common sources of bias in AI systems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30168"/>
            <a:ext cx="106070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22960" y="3730752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5" name="Image 2" descr="/home/claude/ppt/icons/bala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289" y="3850081"/>
            <a:ext cx="291694" cy="29169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3630168"/>
            <a:ext cx="9326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fairness in AI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548640" y="4507992"/>
            <a:ext cx="106070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22960" y="4608576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3" descr="/home/claude/ppt/icons/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289" y="4727905"/>
            <a:ext cx="291694" cy="29169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600200" y="4507992"/>
            <a:ext cx="9326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responsible use of AI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548640" y="5385816"/>
            <a:ext cx="106070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22960" y="5486400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3" name="Image 4" descr="/home/claude/ppt/icons/clip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2289" y="5605729"/>
            <a:ext cx="291694" cy="29169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600200" y="5385816"/>
            <a:ext cx="9326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academic integrity issues involving AI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of AI w/ Prompt Engineering  |  Week 8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AI Bias?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home/claude/ppt/icons/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58" y="1744218"/>
            <a:ext cx="352044" cy="3520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468880"/>
            <a:ext cx="57607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bias occurs when a system produces systematically unequal or skewed results for certain groups or situations.</a:t>
            </a: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affect the accuracy, fairness, and trustworthiness of AI-generated results.</a:t>
            </a: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appears because AI systems learn patterns from data and design choices made by people — not because AI reasons neutrally.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583680" y="1600200"/>
            <a:ext cx="5074920" cy="288036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6903720" y="1874520"/>
            <a:ext cx="4434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EXAMPLE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903720" y="2286000"/>
            <a:ext cx="443484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photo-tagging app trained mostly on one skin tone misidentifies people with darker skin tones far more often — not because it was told to, but because of what it learned from.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9524"/>
            </a:avLst>
          </a:prstGeom>
          <a:solidFill>
            <a:srgbClr val="CADCFC"/>
          </a:solidFill>
          <a:ln/>
        </p:spPr>
      </p:sp>
      <p:sp>
        <p:nvSpPr>
          <p:cNvPr id="11" name="Shape 8"/>
          <p:cNvSpPr/>
          <p:nvPr/>
        </p:nvSpPr>
        <p:spPr>
          <a:xfrm>
            <a:off x="777240" y="525780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/home/claude/ppt/icons/inf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830" y="540639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5074920"/>
            <a:ext cx="9966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1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point: automation does not remove bias — it can just make it harder to see.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of AI w/ Prompt Engineering  |  Week 8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AI Bias Come From?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94944" y="1965960"/>
            <a:ext cx="34290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3544" y="24003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ppt/icons/fileT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" y="2523744"/>
            <a:ext cx="301752" cy="301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55064" y="1965960"/>
            <a:ext cx="2286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Biased or incomplete training data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379976" y="1965960"/>
            <a:ext cx="34290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08576" y="24003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/home/claude/ppt/icons/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020" y="2523744"/>
            <a:ext cx="301752" cy="3017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40096" y="1965960"/>
            <a:ext cx="2286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assumptions and decisions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065008" y="1965960"/>
            <a:ext cx="34290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293608" y="24003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/home/claude/ppt/icons/b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7052" y="2523744"/>
            <a:ext cx="301752" cy="30175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025128" y="1965960"/>
            <a:ext cx="2286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/ social biases in data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94944" y="3639312"/>
            <a:ext cx="34290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23544" y="407365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3" descr="/home/claude/ppt/icons/gr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988" y="4197096"/>
            <a:ext cx="301752" cy="30175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55064" y="3639312"/>
            <a:ext cx="2286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imbalance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4379976" y="3639312"/>
            <a:ext cx="34290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4608576" y="407365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2" name="Image 4" descr="/home/claude/ppt/icons/slid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2020" y="4197096"/>
            <a:ext cx="301752" cy="30175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40096" y="3639312"/>
            <a:ext cx="2286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algorithmic choices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of AI w/ Prompt Engineering  |  Week 8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Examples of AI Bias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26364" y="1874520"/>
            <a:ext cx="2011680" cy="2011680"/>
          </a:xfrm>
          <a:prstGeom prst="roundRect">
            <a:avLst>
              <a:gd name="adj" fmla="val 5455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1266444" y="2194560"/>
            <a:ext cx="731520" cy="73152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6" name="Image 0" descr="/home/claude/ppt/icons/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9324" y="23774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7804" y="31089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Hiring Systems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57500" y="1874520"/>
            <a:ext cx="2011680" cy="2011680"/>
          </a:xfrm>
          <a:prstGeom prst="roundRect">
            <a:avLst>
              <a:gd name="adj" fmla="val 5455"/>
            </a:avLst>
          </a:prstGeom>
          <a:solidFill>
            <a:srgbClr val="1E2761"/>
          </a:solidFill>
          <a:ln/>
        </p:spPr>
      </p:sp>
      <p:sp>
        <p:nvSpPr>
          <p:cNvPr id="9" name="Shape 6"/>
          <p:cNvSpPr/>
          <p:nvPr/>
        </p:nvSpPr>
        <p:spPr>
          <a:xfrm>
            <a:off x="3497580" y="2194560"/>
            <a:ext cx="731520" cy="73152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0" name="Image 1" descr="/home/claude/ppt/icons/ey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23774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948940" y="31089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Facial Recognition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088636" y="1874520"/>
            <a:ext cx="2011680" cy="2011680"/>
          </a:xfrm>
          <a:prstGeom prst="roundRect">
            <a:avLst>
              <a:gd name="adj" fmla="val 5455"/>
            </a:avLst>
          </a:prstGeom>
          <a:solidFill>
            <a:srgbClr val="1E2761"/>
          </a:solidFill>
          <a:ln/>
        </p:spPr>
      </p:sp>
      <p:sp>
        <p:nvSpPr>
          <p:cNvPr id="13" name="Shape 9"/>
          <p:cNvSpPr/>
          <p:nvPr/>
        </p:nvSpPr>
        <p:spPr>
          <a:xfrm>
            <a:off x="5728716" y="2194560"/>
            <a:ext cx="731520" cy="73152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4" name="Image 2" descr="/home/claude/ppt/icons/st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1596" y="237744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180076" y="31089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Systems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319772" y="1874520"/>
            <a:ext cx="2011680" cy="2011680"/>
          </a:xfrm>
          <a:prstGeom prst="roundRect">
            <a:avLst>
              <a:gd name="adj" fmla="val 5455"/>
            </a:avLst>
          </a:prstGeom>
          <a:solidFill>
            <a:srgbClr val="1E2761"/>
          </a:solidFill>
          <a:ln/>
        </p:spPr>
      </p:sp>
      <p:sp>
        <p:nvSpPr>
          <p:cNvPr id="17" name="Shape 12"/>
          <p:cNvSpPr/>
          <p:nvPr/>
        </p:nvSpPr>
        <p:spPr>
          <a:xfrm>
            <a:off x="7959852" y="2194560"/>
            <a:ext cx="731520" cy="73152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8" name="Image 3" descr="/home/claude/ppt/icons/z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42732" y="2377440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411212" y="31089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550908" y="1874520"/>
            <a:ext cx="2011680" cy="2011680"/>
          </a:xfrm>
          <a:prstGeom prst="roundRect">
            <a:avLst>
              <a:gd name="adj" fmla="val 5455"/>
            </a:avLst>
          </a:prstGeom>
          <a:solidFill>
            <a:srgbClr val="1E2761"/>
          </a:solidFill>
          <a:ln/>
        </p:spPr>
      </p:sp>
      <p:sp>
        <p:nvSpPr>
          <p:cNvPr id="21" name="Shape 15"/>
          <p:cNvSpPr/>
          <p:nvPr/>
        </p:nvSpPr>
        <p:spPr>
          <a:xfrm>
            <a:off x="10190988" y="2194560"/>
            <a:ext cx="731520" cy="73152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2" name="Image 4" descr="/home/claude/ppt/icons/boo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73868" y="2377440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642348" y="31089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 Technologies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548640" y="4343400"/>
            <a:ext cx="11109960" cy="914400"/>
          </a:xfrm>
          <a:prstGeom prst="roundRect">
            <a:avLst>
              <a:gd name="adj" fmla="val 10000"/>
            </a:avLst>
          </a:prstGeom>
          <a:solidFill>
            <a:srgbClr val="CADCFC"/>
          </a:solidFill>
          <a:ln/>
        </p:spPr>
      </p:sp>
      <p:sp>
        <p:nvSpPr>
          <p:cNvPr id="25" name="Shape 18"/>
          <p:cNvSpPr/>
          <p:nvPr/>
        </p:nvSpPr>
        <p:spPr>
          <a:xfrm>
            <a:off x="777240" y="4507992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6" name="Image 5" descr="/home/claude/ppt/icons/inf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30" y="4656582"/>
            <a:ext cx="297180" cy="29718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554480" y="434340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1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does not necessarily produce neutral results simply because it is automated.</a:t>
            </a:r>
            <a:endParaRPr lang="en-US" sz="1400" dirty="0"/>
          </a:p>
        </p:txBody>
      </p:sp>
      <p:sp>
        <p:nvSpPr>
          <p:cNvPr id="28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of AI w/ Prompt Engineering  |  Week 8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Fairness in AI?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home/claude/ppt/icons/bal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58" y="1744218"/>
            <a:ext cx="352044" cy="3520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468880"/>
            <a:ext cx="57607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means treating people and groups equally and appropriately, without systematically favoring or disadvantaging any of them.</a:t>
            </a: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matters because AI decisions can affect real opportunities — jobs, grades, loans, and more.</a:t>
            </a: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is not the same as accuracy: a model can be accurate overall while still being unfair to a specific group.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583680" y="1600200"/>
            <a:ext cx="5074920" cy="288036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6903720" y="1874520"/>
            <a:ext cx="4434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vs. FAIRNESS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903720" y="2286000"/>
            <a:ext cx="44348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asks: "How often is the system right overall?"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asks: "Is the system right in the same way for everyone?"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can score well on one and still fail the other.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9524"/>
            </a:avLst>
          </a:prstGeom>
          <a:solidFill>
            <a:srgbClr val="CADCFC"/>
          </a:solidFill>
          <a:ln/>
        </p:spPr>
      </p:sp>
      <p:sp>
        <p:nvSpPr>
          <p:cNvPr id="11" name="Shape 8"/>
          <p:cNvSpPr/>
          <p:nvPr/>
        </p:nvSpPr>
        <p:spPr>
          <a:xfrm>
            <a:off x="777240" y="525780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/home/claude/ppt/icons/inf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830" y="540639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5074920"/>
            <a:ext cx="9966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1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treatment means everyone gets equal and appropriate consideration — not identical treatment regardless of context.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of AI w/ Prompt Engineering  |  Week 8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vs. Fairness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22376" y="1691640"/>
            <a:ext cx="5212080" cy="3840480"/>
          </a:xfrm>
          <a:prstGeom prst="roundRect">
            <a:avLst>
              <a:gd name="adj" fmla="val 2857"/>
            </a:avLst>
          </a:prstGeom>
          <a:solidFill>
            <a:srgbClr val="E8E9F0"/>
          </a:solidFill>
          <a:ln/>
        </p:spPr>
      </p:sp>
      <p:sp>
        <p:nvSpPr>
          <p:cNvPr id="5" name="Shape 3"/>
          <p:cNvSpPr/>
          <p:nvPr/>
        </p:nvSpPr>
        <p:spPr>
          <a:xfrm>
            <a:off x="1042416" y="2011680"/>
            <a:ext cx="594360" cy="594360"/>
          </a:xfrm>
          <a:prstGeom prst="ellipse">
            <a:avLst/>
          </a:prstGeom>
          <a:solidFill>
            <a:srgbClr val="5A6180"/>
          </a:solidFill>
          <a:ln/>
        </p:spPr>
      </p:sp>
      <p:pic>
        <p:nvPicPr>
          <p:cNvPr id="6" name="Image 0" descr="/home/claude/ppt/icons/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006" y="2160270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19656" y="2075688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1C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BIAS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1088136" y="3035808"/>
            <a:ext cx="128016" cy="128016"/>
          </a:xfrm>
          <a:prstGeom prst="ellipse">
            <a:avLst/>
          </a:prstGeom>
          <a:solidFill>
            <a:srgbClr val="5A6180"/>
          </a:solidFill>
          <a:ln/>
        </p:spPr>
      </p:sp>
      <p:sp>
        <p:nvSpPr>
          <p:cNvPr id="9" name="Text 6"/>
          <p:cNvSpPr/>
          <p:nvPr/>
        </p:nvSpPr>
        <p:spPr>
          <a:xfrm>
            <a:off x="1362456" y="2926080"/>
            <a:ext cx="4251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produce systematically different outcomes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088136" y="3858768"/>
            <a:ext cx="128016" cy="128016"/>
          </a:xfrm>
          <a:prstGeom prst="ellipse">
            <a:avLst/>
          </a:prstGeom>
          <a:solidFill>
            <a:srgbClr val="5A6180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3749040"/>
            <a:ext cx="4251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come from data or design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1088136" y="4681728"/>
            <a:ext cx="128016" cy="128016"/>
          </a:xfrm>
          <a:prstGeom prst="ellipse">
            <a:avLst/>
          </a:prstGeom>
          <a:solidFill>
            <a:srgbClr val="5A6180"/>
          </a:solidFill>
          <a:ln/>
        </p:spPr>
      </p:sp>
      <p:sp>
        <p:nvSpPr>
          <p:cNvPr id="13" name="Text 10"/>
          <p:cNvSpPr/>
          <p:nvPr/>
        </p:nvSpPr>
        <p:spPr>
          <a:xfrm>
            <a:off x="1362456" y="4572000"/>
            <a:ext cx="4251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intentional or unintentional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54496" y="1691640"/>
            <a:ext cx="5212080" cy="3840480"/>
          </a:xfrm>
          <a:prstGeom prst="roundRect">
            <a:avLst>
              <a:gd name="adj" fmla="val 2857"/>
            </a:avLst>
          </a:prstGeom>
          <a:solidFill>
            <a:srgbClr val="1E2761"/>
          </a:solidFill>
          <a:ln/>
        </p:spPr>
      </p:sp>
      <p:sp>
        <p:nvSpPr>
          <p:cNvPr id="15" name="Shape 12"/>
          <p:cNvSpPr/>
          <p:nvPr/>
        </p:nvSpPr>
        <p:spPr>
          <a:xfrm>
            <a:off x="6574536" y="2011680"/>
            <a:ext cx="594360" cy="59436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6" name="Image 1" descr="/home/claude/ppt/icons/bal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3126" y="2160270"/>
            <a:ext cx="297180" cy="2971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351776" y="2075688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FAIRNESS</a:t>
            </a:r>
            <a:endParaRPr lang="en-US" sz="1900" dirty="0"/>
          </a:p>
        </p:txBody>
      </p:sp>
      <p:sp>
        <p:nvSpPr>
          <p:cNvPr id="18" name="Shape 14"/>
          <p:cNvSpPr/>
          <p:nvPr/>
        </p:nvSpPr>
        <p:spPr>
          <a:xfrm>
            <a:off x="6620256" y="3035808"/>
            <a:ext cx="128016" cy="128016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9" name="Text 15"/>
          <p:cNvSpPr/>
          <p:nvPr/>
        </p:nvSpPr>
        <p:spPr>
          <a:xfrm>
            <a:off x="6894576" y="2926080"/>
            <a:ext cx="4251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Seeks more equitable outcomes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620256" y="3858768"/>
            <a:ext cx="128016" cy="128016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21" name="Text 17"/>
          <p:cNvSpPr/>
          <p:nvPr/>
        </p:nvSpPr>
        <p:spPr>
          <a:xfrm>
            <a:off x="6894576" y="3749040"/>
            <a:ext cx="4251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identifying and addressing unfairness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620256" y="4681728"/>
            <a:ext cx="128016" cy="128016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23" name="Text 19"/>
          <p:cNvSpPr/>
          <p:nvPr/>
        </p:nvSpPr>
        <p:spPr>
          <a:xfrm>
            <a:off x="6894576" y="4572000"/>
            <a:ext cx="4251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Focuses on responsible system behavior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of AI w/ Prompt Engineering  |  Week 8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USE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Responsible AI Use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principles that guide responsible AI use: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94944" y="1965960"/>
            <a:ext cx="3429000" cy="160020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6" name="Shape 4"/>
          <p:cNvSpPr/>
          <p:nvPr/>
        </p:nvSpPr>
        <p:spPr>
          <a:xfrm>
            <a:off x="2061972" y="2221992"/>
            <a:ext cx="694944" cy="694944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7" name="Image 0" descr="/home/claude/ppt/icons/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708" y="239572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32104" y="30175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Oversight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79976" y="1965960"/>
            <a:ext cx="3429000" cy="160020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10" name="Shape 7"/>
          <p:cNvSpPr/>
          <p:nvPr/>
        </p:nvSpPr>
        <p:spPr>
          <a:xfrm>
            <a:off x="5747004" y="2221992"/>
            <a:ext cx="694944" cy="694944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1" name="Image 1" descr="/home/claude/ppt/icons/ey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0740" y="2395728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17136" y="30175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065008" y="1965960"/>
            <a:ext cx="3429000" cy="160020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14" name="Shape 10"/>
          <p:cNvSpPr/>
          <p:nvPr/>
        </p:nvSpPr>
        <p:spPr>
          <a:xfrm>
            <a:off x="9432036" y="2221992"/>
            <a:ext cx="694944" cy="694944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5" name="Image 2" descr="/home/claude/ppt/icons/user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5772" y="2395728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02168" y="30175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694944" y="3822192"/>
            <a:ext cx="3429000" cy="160020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18" name="Shape 13"/>
          <p:cNvSpPr/>
          <p:nvPr/>
        </p:nvSpPr>
        <p:spPr>
          <a:xfrm>
            <a:off x="2061972" y="4078224"/>
            <a:ext cx="694944" cy="694944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9" name="Image 3" descr="/home/claude/ppt/icons/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5708" y="4251960"/>
            <a:ext cx="347472" cy="34747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2104" y="487375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4379976" y="3822192"/>
            <a:ext cx="3429000" cy="160020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22" name="Shape 16"/>
          <p:cNvSpPr/>
          <p:nvPr/>
        </p:nvSpPr>
        <p:spPr>
          <a:xfrm>
            <a:off x="5747004" y="4078224"/>
            <a:ext cx="694944" cy="694944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3" name="Image 4" descr="/home/claude/ppt/icons/balanc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0740" y="4251960"/>
            <a:ext cx="347472" cy="34747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517136" y="487375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8065008" y="3822192"/>
            <a:ext cx="3429000" cy="160020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26" name="Shape 19"/>
          <p:cNvSpPr/>
          <p:nvPr/>
        </p:nvSpPr>
        <p:spPr>
          <a:xfrm>
            <a:off x="9432036" y="4078224"/>
            <a:ext cx="694944" cy="694944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7" name="Image 5" descr="/home/claude/ppt/icons/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5772" y="4251960"/>
            <a:ext cx="347472" cy="34747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8202168" y="487375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 Use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of AI w/ Prompt Engineering  |  Week 8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USE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Oversight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people should remain involved when using AI: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ppt/icons/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" y="2135124"/>
            <a:ext cx="301752" cy="3017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508760" y="2670048"/>
            <a:ext cx="10012680" cy="0"/>
          </a:xfrm>
          <a:prstGeom prst="line">
            <a:avLst/>
          </a:prstGeom>
          <a:noFill/>
          <a:ln w="12700">
            <a:solidFill>
              <a:srgbClr val="D6DA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508760" y="1938528"/>
            <a:ext cx="10012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 make mistakes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40080" y="27889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/home/claude/ppt/icons/inf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" y="2912364"/>
            <a:ext cx="301752" cy="30175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1508760" y="3447288"/>
            <a:ext cx="10012680" cy="0"/>
          </a:xfrm>
          <a:prstGeom prst="line">
            <a:avLst/>
          </a:prstGeom>
          <a:noFill/>
          <a:ln w="12700">
            <a:solidFill>
              <a:srgbClr val="D6DAE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508760" y="2715768"/>
            <a:ext cx="10012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 produce misleading information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40080" y="35661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/home/claude/ppt/icons/ey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524" y="3689604"/>
            <a:ext cx="301752" cy="30175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1508760" y="4224528"/>
            <a:ext cx="10012680" cy="0"/>
          </a:xfrm>
          <a:prstGeom prst="line">
            <a:avLst/>
          </a:prstGeom>
          <a:noFill/>
          <a:ln w="12700">
            <a:solidFill>
              <a:srgbClr val="D6DAE8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1508760" y="3493008"/>
            <a:ext cx="10012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may lack context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640080" y="43434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3" descr="/home/claude/ppt/icons/user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524" y="4466844"/>
            <a:ext cx="301752" cy="301752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1508760" y="5001768"/>
            <a:ext cx="10012680" cy="0"/>
          </a:xfrm>
          <a:prstGeom prst="line">
            <a:avLst/>
          </a:prstGeom>
          <a:noFill/>
          <a:ln w="12700">
            <a:solidFill>
              <a:srgbClr val="D6DAE8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1508760" y="4270248"/>
            <a:ext cx="10012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are responsible for decisions made using AI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548640" y="5349240"/>
            <a:ext cx="11109960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/>
        </p:spPr>
      </p:sp>
      <p:sp>
        <p:nvSpPr>
          <p:cNvPr id="22" name="Shape 16"/>
          <p:cNvSpPr/>
          <p:nvPr/>
        </p:nvSpPr>
        <p:spPr>
          <a:xfrm>
            <a:off x="777240" y="5504688"/>
            <a:ext cx="548640" cy="54864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3" name="Image 4" descr="/home/claude/ppt/icons/shiel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5641848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508760" y="5349240"/>
            <a:ext cx="9966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supports decisions — it should never replace human judgment.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of AI w/ Prompt Engineering  |  Week 8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USE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Ethical Use of Generative AI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practices when using tools such as ChatGPT: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ppt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" y="2089404"/>
            <a:ext cx="301752" cy="3017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508760" y="2624328"/>
            <a:ext cx="10012680" cy="0"/>
          </a:xfrm>
          <a:prstGeom prst="line">
            <a:avLst/>
          </a:prstGeom>
          <a:noFill/>
          <a:ln w="12700">
            <a:solidFill>
              <a:srgbClr val="D6DA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508760" y="1892808"/>
            <a:ext cx="10012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as an assistance tool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40080" y="27432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/home/claude/ppt/icons/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" y="2866644"/>
            <a:ext cx="301752" cy="30175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1508760" y="3401568"/>
            <a:ext cx="10012680" cy="0"/>
          </a:xfrm>
          <a:prstGeom prst="line">
            <a:avLst/>
          </a:prstGeom>
          <a:noFill/>
          <a:ln w="12700">
            <a:solidFill>
              <a:srgbClr val="D6DAE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508760" y="2670048"/>
            <a:ext cx="10012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important information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40080" y="35204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/home/claude/ppt/icons/ale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524" y="3643884"/>
            <a:ext cx="301752" cy="30175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1508760" y="4178808"/>
            <a:ext cx="10012680" cy="0"/>
          </a:xfrm>
          <a:prstGeom prst="line">
            <a:avLst/>
          </a:prstGeom>
          <a:noFill/>
          <a:ln w="12700">
            <a:solidFill>
              <a:srgbClr val="D6DAE8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1508760" y="3447288"/>
            <a:ext cx="10012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misleading or harmful use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640080" y="42976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3" descr="/home/claude/ppt/icons/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524" y="4421124"/>
            <a:ext cx="301752" cy="301752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1508760" y="4956048"/>
            <a:ext cx="10012680" cy="0"/>
          </a:xfrm>
          <a:prstGeom prst="line">
            <a:avLst/>
          </a:prstGeom>
          <a:noFill/>
          <a:ln w="12700">
            <a:solidFill>
              <a:srgbClr val="D6DAE8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1508760" y="4224528"/>
            <a:ext cx="10012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private information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640080" y="50749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2" name="Image 4" descr="/home/claude/ppt/icons/clip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524" y="5198364"/>
            <a:ext cx="301752" cy="301752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1508760" y="5733288"/>
            <a:ext cx="10012680" cy="0"/>
          </a:xfrm>
          <a:prstGeom prst="line">
            <a:avLst/>
          </a:prstGeom>
          <a:noFill/>
          <a:ln w="12700">
            <a:solidFill>
              <a:srgbClr val="D6DAE8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1508760" y="5001768"/>
            <a:ext cx="10012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institutional rules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of AI w/ Prompt Engineering  |  Week 8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INTEGRITY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and Academic Integrity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ideas every student should understand: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94944" y="1965960"/>
            <a:ext cx="34290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098548" y="2221992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0" descr="/home/claude/ppt/icons/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3996" y="2377440"/>
            <a:ext cx="310896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77824" y="297180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academic integrity?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79976" y="1965960"/>
            <a:ext cx="34290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83580" y="2221992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/home/claude/ppt/icons/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9028" y="2377440"/>
            <a:ext cx="310896" cy="31089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62856" y="297180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work vs. AI-generated work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8065008" y="1965960"/>
            <a:ext cx="34290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468612" y="2221992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5" name="Image 2" descr="/home/claude/ppt/icons/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4060" y="2377440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47888" y="297180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Unauthorized AI use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94944" y="3822192"/>
            <a:ext cx="34290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2098548" y="4078224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3" descr="/home/claude/ppt/icons/ale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3996" y="4233672"/>
            <a:ext cx="310896" cy="31089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77824" y="4828032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Misrepresenting AI-generated work as one's own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4379976" y="3822192"/>
            <a:ext cx="34290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5783580" y="4078224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3" name="Image 4" descr="/home/claude/ppt/icons/clip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9028" y="4233672"/>
            <a:ext cx="310896" cy="31089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562856" y="4828032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instructor / institution policies</a:t>
            </a:r>
            <a:endParaRPr lang="en-US" sz="1350" dirty="0"/>
          </a:p>
        </p:txBody>
      </p:sp>
      <p:sp>
        <p:nvSpPr>
          <p:cNvPr id="25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of AI w/ Prompt Engineering  |  Week 8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INTEGRITY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Appropriate vs. Inappropriate AI Use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22376" y="169164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96696" y="1965960"/>
            <a:ext cx="548640" cy="54864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6" name="Image 0" descr="/home/claude/ppt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" y="2089404"/>
            <a:ext cx="301752" cy="301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28216" y="2039112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2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42416" y="2743200"/>
            <a:ext cx="384048" cy="384048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9" name="Image 1" descr="/home/claude/ppt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827" y="2829611"/>
            <a:ext cx="211226" cy="21122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91056" y="265176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 ideas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042416" y="3401568"/>
            <a:ext cx="384048" cy="384048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2" name="Image 2" descr="/home/claude/ppt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827" y="3487979"/>
            <a:ext cx="211226" cy="21122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91056" y="331012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for explanations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1042416" y="4059936"/>
            <a:ext cx="384048" cy="384048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5" name="Image 3" descr="/home/claude/ppt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827" y="4146347"/>
            <a:ext cx="211226" cy="21122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591056" y="3968496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understanding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1042416" y="4718304"/>
            <a:ext cx="384048" cy="384048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8" name="Image 4" descr="/home/claude/ppt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827" y="4804715"/>
            <a:ext cx="211226" cy="211226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91056" y="4626864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feedback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1042416" y="5376672"/>
            <a:ext cx="384048" cy="384048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1" name="Image 5" descr="/home/claude/ppt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827" y="5463083"/>
            <a:ext cx="211226" cy="211226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591056" y="5285232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Assistance with learning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6254496" y="169164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528816" y="1965960"/>
            <a:ext cx="548640" cy="54864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25" name="Image 6" descr="/home/claude/ppt/icons/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2260" y="2089404"/>
            <a:ext cx="301752" cy="30175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7260336" y="2039112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8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POTENTIALLY INAPPROPRIATE</a:t>
            </a:r>
            <a:endParaRPr lang="en-US" sz="1300" dirty="0"/>
          </a:p>
        </p:txBody>
      </p:sp>
      <p:sp>
        <p:nvSpPr>
          <p:cNvPr id="27" name="Shape 18"/>
          <p:cNvSpPr/>
          <p:nvPr/>
        </p:nvSpPr>
        <p:spPr>
          <a:xfrm>
            <a:off x="6574536" y="2743200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28" name="Image 7" descr="/home/claude/ppt/icons/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2829611"/>
            <a:ext cx="211226" cy="211226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7123176" y="2633472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Submitting generated work as entirely one's own</a:t>
            </a:r>
            <a:endParaRPr lang="en-US" sz="1400" dirty="0"/>
          </a:p>
        </p:txBody>
      </p:sp>
      <p:sp>
        <p:nvSpPr>
          <p:cNvPr id="30" name="Shape 20"/>
          <p:cNvSpPr/>
          <p:nvPr/>
        </p:nvSpPr>
        <p:spPr>
          <a:xfrm>
            <a:off x="6574536" y="3566160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31" name="Image 8" descr="/home/claude/ppt/icons/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3652571"/>
            <a:ext cx="211226" cy="211226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7123176" y="3456432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AI when explicitly prohibited</a:t>
            </a:r>
            <a:endParaRPr lang="en-US" sz="1400" dirty="0"/>
          </a:p>
        </p:txBody>
      </p:sp>
      <p:sp>
        <p:nvSpPr>
          <p:cNvPr id="33" name="Shape 22"/>
          <p:cNvSpPr/>
          <p:nvPr/>
        </p:nvSpPr>
        <p:spPr>
          <a:xfrm>
            <a:off x="6574536" y="4389120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34" name="Image 9" descr="/home/claude/ppt/icons/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4475531"/>
            <a:ext cx="211226" cy="211226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7123176" y="4279392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Fabricating sources or information</a:t>
            </a:r>
            <a:endParaRPr lang="en-US" sz="1400" dirty="0"/>
          </a:p>
        </p:txBody>
      </p:sp>
      <p:sp>
        <p:nvSpPr>
          <p:cNvPr id="36" name="Shape 24"/>
          <p:cNvSpPr/>
          <p:nvPr/>
        </p:nvSpPr>
        <p:spPr>
          <a:xfrm>
            <a:off x="6574536" y="5212080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37" name="Image 10" descr="/home/claude/ppt/icons/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5298491"/>
            <a:ext cx="211226" cy="211226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7123176" y="5102352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AI to bypass required learning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of AI w/ Prompt Engineering  |  Week 8</a:t>
            </a:r>
            <a:endParaRPr lang="en-US" sz="900" dirty="0"/>
          </a:p>
        </p:txBody>
      </p:sp>
      <p:sp>
        <p:nvSpPr>
          <p:cNvPr id="40" name="Text 2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INTEGRITY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 Use and User Responsibility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the user, you are responsible to: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ppt/icons/e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" y="2089404"/>
            <a:ext cx="301752" cy="3017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508760" y="2624328"/>
            <a:ext cx="10012680" cy="0"/>
          </a:xfrm>
          <a:prstGeom prst="line">
            <a:avLst/>
          </a:prstGeom>
          <a:noFill/>
          <a:ln w="12700">
            <a:solidFill>
              <a:srgbClr val="D6DA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508760" y="1892808"/>
            <a:ext cx="10012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how the AI tool is being used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40080" y="27432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/home/claude/ppt/icons/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" y="2866644"/>
            <a:ext cx="301752" cy="30175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1508760" y="3401568"/>
            <a:ext cx="10012680" cy="0"/>
          </a:xfrm>
          <a:prstGeom prst="line">
            <a:avLst/>
          </a:prstGeom>
          <a:noFill/>
          <a:ln w="12700">
            <a:solidFill>
              <a:srgbClr val="D6DAE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508760" y="2670048"/>
            <a:ext cx="10012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its output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40080" y="35204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/home/claude/ppt/icons/clip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524" y="3643884"/>
            <a:ext cx="301752" cy="30175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1508760" y="4178808"/>
            <a:ext cx="10012680" cy="0"/>
          </a:xfrm>
          <a:prstGeom prst="line">
            <a:avLst/>
          </a:prstGeom>
          <a:noFill/>
          <a:ln w="12700">
            <a:solidFill>
              <a:srgbClr val="D6DAE8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1508760" y="3447288"/>
            <a:ext cx="10012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rules and policies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640080" y="42976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3" descr="/home/claude/ppt/icons/ale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524" y="4421124"/>
            <a:ext cx="301752" cy="301752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1508760" y="4956048"/>
            <a:ext cx="10012680" cy="0"/>
          </a:xfrm>
          <a:prstGeom prst="line">
            <a:avLst/>
          </a:prstGeom>
          <a:noFill/>
          <a:ln w="12700">
            <a:solidFill>
              <a:srgbClr val="D6DAE8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1508760" y="4224528"/>
            <a:ext cx="10012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possible consequences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640080" y="50749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2" name="Image 4" descr="/home/claude/ppt/icons/user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524" y="5198364"/>
            <a:ext cx="301752" cy="301752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1508760" y="5733288"/>
            <a:ext cx="10012680" cy="0"/>
          </a:xfrm>
          <a:prstGeom prst="line">
            <a:avLst/>
          </a:prstGeom>
          <a:noFill/>
          <a:ln w="12700">
            <a:solidFill>
              <a:srgbClr val="D6DAE8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1508760" y="5001768"/>
            <a:ext cx="10012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final judgment themselves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of AI w/ Prompt Engineering  |  Week 8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PRINCIPLES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Ethical Decision-Making with AI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process to work through before acting on AI output: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68096" y="2148840"/>
            <a:ext cx="1874520" cy="1554480"/>
          </a:xfrm>
          <a:prstGeom prst="roundRect">
            <a:avLst>
              <a:gd name="adj" fmla="val 7059"/>
            </a:avLst>
          </a:prstGeom>
          <a:solidFill>
            <a:srgbClr val="1E2761"/>
          </a:solidFill>
          <a:ln/>
        </p:spPr>
      </p:sp>
      <p:sp>
        <p:nvSpPr>
          <p:cNvPr id="6" name="Shape 4"/>
          <p:cNvSpPr/>
          <p:nvPr/>
        </p:nvSpPr>
        <p:spPr>
          <a:xfrm>
            <a:off x="1412748" y="2350008"/>
            <a:ext cx="585216" cy="585216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pic>
        <p:nvPicPr>
          <p:cNvPr id="7" name="Image 0" descr="/home/claude/ppt/icons/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4422" y="2481682"/>
            <a:ext cx="321869" cy="3218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68096" y="306324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628900" y="2752344"/>
            <a:ext cx="347472" cy="347472"/>
          </a:xfrm>
          <a:prstGeom prst="ellipse">
            <a:avLst/>
          </a:prstGeom>
          <a:solidFill>
            <a:srgbClr val="4A5578"/>
          </a:solidFill>
          <a:ln/>
        </p:spPr>
      </p:sp>
      <p:pic>
        <p:nvPicPr>
          <p:cNvPr id="10" name="Image 1" descr="/home/claude/ppt/icons/arrow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8394" y="2821838"/>
            <a:ext cx="208483" cy="208483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962656" y="2148840"/>
            <a:ext cx="1874520" cy="1554480"/>
          </a:xfrm>
          <a:prstGeom prst="roundRect">
            <a:avLst>
              <a:gd name="adj" fmla="val 7059"/>
            </a:avLst>
          </a:prstGeom>
          <a:solidFill>
            <a:srgbClr val="1E2761"/>
          </a:solidFill>
          <a:ln/>
        </p:spPr>
      </p:sp>
      <p:sp>
        <p:nvSpPr>
          <p:cNvPr id="12" name="Shape 8"/>
          <p:cNvSpPr/>
          <p:nvPr/>
        </p:nvSpPr>
        <p:spPr>
          <a:xfrm>
            <a:off x="3607308" y="2350008"/>
            <a:ext cx="585216" cy="585216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pic>
        <p:nvPicPr>
          <p:cNvPr id="13" name="Image 2" descr="/home/claude/ppt/icons/ey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8982" y="2481682"/>
            <a:ext cx="321869" cy="32186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962656" y="306324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823460" y="2752344"/>
            <a:ext cx="347472" cy="347472"/>
          </a:xfrm>
          <a:prstGeom prst="ellipse">
            <a:avLst/>
          </a:prstGeom>
          <a:solidFill>
            <a:srgbClr val="4A5578"/>
          </a:solidFill>
          <a:ln/>
        </p:spPr>
      </p:sp>
      <p:pic>
        <p:nvPicPr>
          <p:cNvPr id="16" name="Image 3" descr="/home/claude/ppt/icons/arrow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954" y="2821838"/>
            <a:ext cx="208483" cy="208483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5157216" y="2148840"/>
            <a:ext cx="1874520" cy="1554480"/>
          </a:xfrm>
          <a:prstGeom prst="roundRect">
            <a:avLst>
              <a:gd name="adj" fmla="val 7059"/>
            </a:avLst>
          </a:prstGeom>
          <a:solidFill>
            <a:srgbClr val="1E2761"/>
          </a:solidFill>
          <a:ln/>
        </p:spPr>
      </p:sp>
      <p:sp>
        <p:nvSpPr>
          <p:cNvPr id="18" name="Shape 12"/>
          <p:cNvSpPr/>
          <p:nvPr/>
        </p:nvSpPr>
        <p:spPr>
          <a:xfrm>
            <a:off x="5801868" y="2350008"/>
            <a:ext cx="585216" cy="585216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pic>
        <p:nvPicPr>
          <p:cNvPr id="19" name="Image 4" descr="/home/claude/ppt/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3542" y="2481682"/>
            <a:ext cx="321869" cy="321869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5157216" y="306324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7018020" y="2752344"/>
            <a:ext cx="347472" cy="347472"/>
          </a:xfrm>
          <a:prstGeom prst="ellipse">
            <a:avLst/>
          </a:prstGeom>
          <a:solidFill>
            <a:srgbClr val="4A5578"/>
          </a:solidFill>
          <a:ln/>
        </p:spPr>
      </p:sp>
      <p:pic>
        <p:nvPicPr>
          <p:cNvPr id="22" name="Image 5" descr="/home/claude/ppt/icons/arrow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7514" y="2821838"/>
            <a:ext cx="208483" cy="208483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7351776" y="2148840"/>
            <a:ext cx="1874520" cy="1554480"/>
          </a:xfrm>
          <a:prstGeom prst="roundRect">
            <a:avLst>
              <a:gd name="adj" fmla="val 7059"/>
            </a:avLst>
          </a:prstGeom>
          <a:solidFill>
            <a:srgbClr val="1E2761"/>
          </a:solidFill>
          <a:ln/>
        </p:spPr>
      </p:sp>
      <p:sp>
        <p:nvSpPr>
          <p:cNvPr id="24" name="Shape 16"/>
          <p:cNvSpPr/>
          <p:nvPr/>
        </p:nvSpPr>
        <p:spPr>
          <a:xfrm>
            <a:off x="7996428" y="2350008"/>
            <a:ext cx="585216" cy="585216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pic>
        <p:nvPicPr>
          <p:cNvPr id="25" name="Image 6" descr="/home/claude/ppt/icons/balanc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102" y="2481682"/>
            <a:ext cx="321869" cy="321869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7351776" y="306324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300" dirty="0"/>
          </a:p>
        </p:txBody>
      </p:sp>
      <p:sp>
        <p:nvSpPr>
          <p:cNvPr id="27" name="Shape 18"/>
          <p:cNvSpPr/>
          <p:nvPr/>
        </p:nvSpPr>
        <p:spPr>
          <a:xfrm>
            <a:off x="9212580" y="2752344"/>
            <a:ext cx="347472" cy="347472"/>
          </a:xfrm>
          <a:prstGeom prst="ellipse">
            <a:avLst/>
          </a:prstGeom>
          <a:solidFill>
            <a:srgbClr val="4A5578"/>
          </a:solidFill>
          <a:ln/>
        </p:spPr>
      </p:sp>
      <p:pic>
        <p:nvPicPr>
          <p:cNvPr id="28" name="Image 7" descr="/home/claude/ppt/icons/arrow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2074" y="2821838"/>
            <a:ext cx="208483" cy="208483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9546336" y="2148840"/>
            <a:ext cx="1874520" cy="1554480"/>
          </a:xfrm>
          <a:prstGeom prst="roundRect">
            <a:avLst>
              <a:gd name="adj" fmla="val 7059"/>
            </a:avLst>
          </a:prstGeom>
          <a:solidFill>
            <a:srgbClr val="F2A93B"/>
          </a:solidFill>
          <a:ln/>
        </p:spPr>
      </p:sp>
      <p:sp>
        <p:nvSpPr>
          <p:cNvPr id="30" name="Shape 20"/>
          <p:cNvSpPr/>
          <p:nvPr/>
        </p:nvSpPr>
        <p:spPr>
          <a:xfrm>
            <a:off x="10190988" y="2350008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1" name="Image 8" descr="/home/claude/ppt/icons/user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22662" y="2481682"/>
            <a:ext cx="321869" cy="321869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9546336" y="306324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Responsibility</a:t>
            </a:r>
            <a:endParaRPr lang="en-US" sz="1300" dirty="0"/>
          </a:p>
        </p:txBody>
      </p:sp>
      <p:sp>
        <p:nvSpPr>
          <p:cNvPr id="33" name="Shape 22"/>
          <p:cNvSpPr/>
          <p:nvPr/>
        </p:nvSpPr>
        <p:spPr>
          <a:xfrm>
            <a:off x="548640" y="4160520"/>
            <a:ext cx="11109960" cy="1508760"/>
          </a:xfrm>
          <a:prstGeom prst="roundRect">
            <a:avLst>
              <a:gd name="adj" fmla="val 7273"/>
            </a:avLst>
          </a:prstGeom>
          <a:solidFill>
            <a:srgbClr val="CADCFC"/>
          </a:solidFill>
          <a:ln/>
        </p:spPr>
      </p:sp>
      <p:sp>
        <p:nvSpPr>
          <p:cNvPr id="34" name="Text 23"/>
          <p:cNvSpPr/>
          <p:nvPr/>
        </p:nvSpPr>
        <p:spPr>
          <a:xfrm>
            <a:off x="8686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SCENARIO</a:t>
            </a:r>
            <a:endParaRPr lang="en-US" sz="1200" dirty="0"/>
          </a:p>
        </p:txBody>
      </p:sp>
      <p:sp>
        <p:nvSpPr>
          <p:cNvPr id="35" name="Text 24"/>
          <p:cNvSpPr/>
          <p:nvPr/>
        </p:nvSpPr>
        <p:spPr>
          <a:xfrm>
            <a:off x="868680" y="4709160"/>
            <a:ext cx="10469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161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tool suggests a statistic for your report, but you cannot find the original source. Identify the concern, evaluate the risk of using it unverified, verify with a trusted source, decide how to proceed, and take responsibility for what you submit.</a:t>
            </a:r>
            <a:endParaRPr lang="en-US" sz="1400" dirty="0"/>
          </a:p>
        </p:txBody>
      </p:sp>
      <p:sp>
        <p:nvSpPr>
          <p:cNvPr id="36" name="Text 2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of AI w/ Prompt Engineering  |  Week 8</a:t>
            </a:r>
            <a:endParaRPr lang="en-US" sz="900" dirty="0"/>
          </a:p>
        </p:txBody>
      </p:sp>
      <p:sp>
        <p:nvSpPr>
          <p:cNvPr id="37" name="Text 26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PRINCIPLES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Examples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39496" y="169164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813816" y="1965960"/>
            <a:ext cx="548640" cy="54864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6" name="Image 0" descr="/home/claude/ppt/icons/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2089404"/>
            <a:ext cx="301752" cy="301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99616" y="2039112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13816" y="265176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hiring system consistently favors one group.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34256" y="169164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/>
        </p:spPr>
      </p:sp>
      <p:sp>
        <p:nvSpPr>
          <p:cNvPr id="10" name="Shape 7"/>
          <p:cNvSpPr/>
          <p:nvPr/>
        </p:nvSpPr>
        <p:spPr>
          <a:xfrm>
            <a:off x="4608576" y="1965960"/>
            <a:ext cx="548640" cy="54864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1" name="Image 1" descr="/home/claude/ppt/icons/clip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020" y="2089404"/>
            <a:ext cx="301752" cy="30175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94376" y="2039112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2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608576" y="265176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submits an AI-generated assignment without disclosure.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129016" y="169164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/>
        </p:spPr>
      </p:sp>
      <p:sp>
        <p:nvSpPr>
          <p:cNvPr id="15" name="Shape 11"/>
          <p:cNvSpPr/>
          <p:nvPr/>
        </p:nvSpPr>
        <p:spPr>
          <a:xfrm>
            <a:off x="8403336" y="1965960"/>
            <a:ext cx="548640" cy="54864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6" name="Image 2" descr="/home/claude/ppt/icons/ale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6780" y="2089404"/>
            <a:ext cx="301752" cy="30175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089136" y="2039112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3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403336" y="265176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chatbot provides incorrect information that a user accepts without verification.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548640" y="4251960"/>
            <a:ext cx="11109960" cy="1417320"/>
          </a:xfrm>
          <a:prstGeom prst="roundRect">
            <a:avLst>
              <a:gd name="adj" fmla="val 7742"/>
            </a:avLst>
          </a:prstGeom>
          <a:solidFill>
            <a:srgbClr val="CADCFC"/>
          </a:solidFill>
          <a:ln/>
        </p:spPr>
      </p:sp>
      <p:sp>
        <p:nvSpPr>
          <p:cNvPr id="20" name="Text 15"/>
          <p:cNvSpPr/>
          <p:nvPr/>
        </p:nvSpPr>
        <p:spPr>
          <a:xfrm>
            <a:off x="868680" y="44348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CASE, CONSIDER: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868680" y="48006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61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is the issue?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4526280" y="48006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61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Who could be affected?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8183880" y="48006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61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would responsible use look like?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of AI w/ Prompt Engineering  |  Week 8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645920"/>
            <a:ext cx="4114800" cy="4114800"/>
          </a:xfrm>
          <a:prstGeom prst="ellipse">
            <a:avLst/>
          </a:prstGeom>
          <a:solidFill>
            <a:srgbClr val="161C4A"/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161C4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512064" cy="512064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7" name="Image 0" descr="/home/claude/ppt/icons/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294" y="1669694"/>
            <a:ext cx="281635" cy="2816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1508760"/>
            <a:ext cx="9966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systems can contain or reproduce bias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40080" y="2331720"/>
            <a:ext cx="512064" cy="512064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0" name="Image 1" descr="/home/claude/ppt/icons/bal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294" y="2446934"/>
            <a:ext cx="281635" cy="28163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2286000"/>
            <a:ext cx="9966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must be considered when using AI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40080" y="3108960"/>
            <a:ext cx="512064" cy="512064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3" name="Image 2" descr="/home/claude/ppt/icons/user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294" y="3224174"/>
            <a:ext cx="281635" cy="28163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3063240"/>
            <a:ext cx="9966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should not replace human judgment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640080" y="3886200"/>
            <a:ext cx="512064" cy="512064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6" name="Image 3" descr="/home/claude/ppt/icons/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294" y="4001414"/>
            <a:ext cx="281635" cy="28163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63040" y="3840480"/>
            <a:ext cx="9966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are responsible for how AI is used</a:t>
            </a:r>
            <a:endParaRPr lang="en-US" sz="1600" dirty="0"/>
          </a:p>
        </p:txBody>
      </p:sp>
      <p:sp>
        <p:nvSpPr>
          <p:cNvPr id="18" name="Shape 12"/>
          <p:cNvSpPr/>
          <p:nvPr/>
        </p:nvSpPr>
        <p:spPr>
          <a:xfrm>
            <a:off x="640080" y="4663440"/>
            <a:ext cx="512064" cy="512064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9" name="Image 4" descr="/home/claude/ppt/icons/clip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294" y="4778654"/>
            <a:ext cx="281635" cy="281635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463040" y="4617720"/>
            <a:ext cx="9966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integrity applies to AI-assisted work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640080" y="5440680"/>
            <a:ext cx="512064" cy="512064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2" name="Image 5" descr="/home/claude/ppt/icons/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294" y="5555894"/>
            <a:ext cx="281635" cy="281635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463040" y="5394960"/>
            <a:ext cx="9966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requires ethical and critical thinking</a:t>
            </a:r>
            <a:endParaRPr lang="en-US" sz="1600" dirty="0"/>
          </a:p>
        </p:txBody>
      </p:sp>
      <p:sp>
        <p:nvSpPr>
          <p:cNvPr id="24" name="Text 1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EB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of AI w/ Prompt Engineering  |  Week 8</a:t>
            </a:r>
            <a:endParaRPr lang="en-US" sz="900" dirty="0"/>
          </a:p>
        </p:txBody>
      </p:sp>
      <p:sp>
        <p:nvSpPr>
          <p:cNvPr id="25" name="Text 1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OUTPUT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Ethics Case Analysis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select one AI-related ethical scenario and submit a short written analysis.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66751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3774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ANALYSIS INCLUDES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28803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/home/claude/ppt/icons/e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270" y="2983230"/>
            <a:ext cx="251460" cy="2514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2807208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Scenario — briefly describe the situation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353872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/home/claude/ppt/icons/ale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270" y="3641598"/>
            <a:ext cx="251460" cy="2514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08760" y="3465576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Ethical Issue — bias, fairness, responsible AI, or academic integrity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914400" y="419709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/home/claude/ppt/icons/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7270" y="4299966"/>
            <a:ext cx="251460" cy="2514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4123944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Impact — who may be affected, and how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914400" y="485546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7" name="Image 3" descr="/home/claude/ppt/icons/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270" y="4958334"/>
            <a:ext cx="251460" cy="2514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4782312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Responsible Action — what should be done, and why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7452360" y="2103120"/>
            <a:ext cx="4160520" cy="3566160"/>
          </a:xfrm>
          <a:prstGeom prst="roundRect">
            <a:avLst>
              <a:gd name="adj" fmla="val 3077"/>
            </a:avLst>
          </a:prstGeom>
          <a:solidFill>
            <a:srgbClr val="1E2761"/>
          </a:solidFill>
          <a:ln/>
        </p:spPr>
      </p:sp>
      <p:sp>
        <p:nvSpPr>
          <p:cNvPr id="20" name="Shape 14"/>
          <p:cNvSpPr/>
          <p:nvPr/>
        </p:nvSpPr>
        <p:spPr>
          <a:xfrm>
            <a:off x="9075420" y="2468880"/>
            <a:ext cx="914400" cy="91440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1" name="Image 4" descr="/home/claude/ppt/icons/uplo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04020" y="2697480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726680" y="356616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7818120" y="3977640"/>
            <a:ext cx="3429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document submitted online through the designated Google Drive.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of AI w/ Prompt Engineering  |  Week 8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1099</Words>
  <Application>Microsoft Office PowerPoint</Application>
  <PresentationFormat>Widescreen</PresentationFormat>
  <Paragraphs>207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Jay laurence Enarin</cp:lastModifiedBy>
  <cp:revision>1</cp:revision>
  <dcterms:created xsi:type="dcterms:W3CDTF">2026-09-13T05:54:41Z</dcterms:created>
  <dcterms:modified xsi:type="dcterms:W3CDTF">2026-09-13T06:02:21Z</dcterms:modified>
</cp:coreProperties>
</file>