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9DBDAE7-E9BE-39B6-D74A-B997746F9740}" name="Jay laurence Enarin" initials="JE" userId="9ac240a2e72fe54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501" autoAdjust="0"/>
  </p:normalViewPr>
  <p:slideViewPr>
    <p:cSldViewPr snapToGrid="0" snapToObjects="1">
      <p:cViewPr varScale="1">
        <p:scale>
          <a:sx n="61" d="100"/>
          <a:sy n="61" d="100"/>
        </p:scale>
        <p:origin x="8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40" d="100"/>
          <a:sy n="40" d="100"/>
        </p:scale>
        <p:origin x="2932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7319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answer_key</a:t>
            </a:r>
            <a:r>
              <a:rPr lang="en-US" dirty="0"/>
              <a:t> = ["a", "c", "b", "d", "a"]</a:t>
            </a:r>
          </a:p>
          <a:p>
            <a:endParaRPr lang="en-US" dirty="0"/>
          </a:p>
          <a:p>
            <a:r>
              <a:rPr lang="en-US" dirty="0" err="1"/>
              <a:t>user_input</a:t>
            </a:r>
            <a:r>
              <a:rPr lang="en-US" dirty="0"/>
              <a:t> = input("Enter your answers separated by spaces: ")</a:t>
            </a:r>
          </a:p>
          <a:p>
            <a:endParaRPr lang="en-US" dirty="0"/>
          </a:p>
          <a:p>
            <a:r>
              <a:rPr lang="en-US" dirty="0" err="1"/>
              <a:t>user_answers</a:t>
            </a:r>
            <a:r>
              <a:rPr lang="en-US" dirty="0"/>
              <a:t> = </a:t>
            </a:r>
            <a:r>
              <a:rPr lang="en-US" dirty="0" err="1"/>
              <a:t>user_input.lower</a:t>
            </a:r>
            <a:r>
              <a:rPr lang="en-US" dirty="0"/>
              <a:t>().split()</a:t>
            </a:r>
          </a:p>
          <a:p>
            <a:endParaRPr lang="en-US" dirty="0"/>
          </a:p>
          <a:p>
            <a:r>
              <a:rPr lang="en-US" dirty="0"/>
              <a:t>score = 0</a:t>
            </a:r>
          </a:p>
          <a:p>
            <a:endParaRPr lang="en-US" dirty="0"/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answer_key</a:t>
            </a:r>
            <a:r>
              <a:rPr lang="en-US" dirty="0"/>
              <a:t>)):</a:t>
            </a:r>
          </a:p>
          <a:p>
            <a:r>
              <a:rPr lang="en-US" dirty="0"/>
              <a:t>    if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user_answers</a:t>
            </a:r>
            <a:r>
              <a:rPr lang="en-US" dirty="0"/>
              <a:t>):</a:t>
            </a:r>
          </a:p>
          <a:p>
            <a:r>
              <a:rPr lang="en-US" dirty="0"/>
              <a:t>        if </a:t>
            </a:r>
            <a:r>
              <a:rPr lang="en-US" dirty="0" err="1"/>
              <a:t>user_answers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== </a:t>
            </a:r>
            <a:r>
              <a:rPr lang="en-US" dirty="0" err="1"/>
              <a:t>answer_key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]:</a:t>
            </a:r>
          </a:p>
          <a:p>
            <a:r>
              <a:rPr lang="en-US" dirty="0"/>
              <a:t>            score += 1</a:t>
            </a:r>
          </a:p>
          <a:p>
            <a:r>
              <a:rPr lang="en-US" dirty="0"/>
              <a:t>            print(</a:t>
            </a:r>
            <a:r>
              <a:rPr lang="en-US" dirty="0" err="1"/>
              <a:t>f"Question</a:t>
            </a:r>
            <a:r>
              <a:rPr lang="en-US" dirty="0"/>
              <a:t> {</a:t>
            </a:r>
            <a:r>
              <a:rPr lang="en-US" dirty="0" err="1"/>
              <a:t>i</a:t>
            </a:r>
            <a:r>
              <a:rPr lang="en-US" dirty="0"/>
              <a:t> + 1}: Correct")</a:t>
            </a:r>
          </a:p>
          <a:p>
            <a:r>
              <a:rPr lang="en-US" dirty="0"/>
              <a:t>        else:</a:t>
            </a:r>
          </a:p>
          <a:p>
            <a:r>
              <a:rPr lang="en-US" dirty="0"/>
              <a:t>            print(</a:t>
            </a:r>
            <a:r>
              <a:rPr lang="en-US" dirty="0" err="1"/>
              <a:t>f"Question</a:t>
            </a:r>
            <a:r>
              <a:rPr lang="en-US" dirty="0"/>
              <a:t> {</a:t>
            </a:r>
            <a:r>
              <a:rPr lang="en-US" dirty="0" err="1"/>
              <a:t>i</a:t>
            </a:r>
            <a:r>
              <a:rPr lang="en-US" dirty="0"/>
              <a:t> + 1}: Wrong")</a:t>
            </a:r>
          </a:p>
          <a:p>
            <a:r>
              <a:rPr lang="en-US" dirty="0"/>
              <a:t>            print(</a:t>
            </a:r>
            <a:r>
              <a:rPr lang="en-US" dirty="0" err="1"/>
              <a:t>f"Correct</a:t>
            </a:r>
            <a:r>
              <a:rPr lang="en-US" dirty="0"/>
              <a:t> answer: {</a:t>
            </a:r>
            <a:r>
              <a:rPr lang="en-US" dirty="0" err="1"/>
              <a:t>answer_key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]}")</a:t>
            </a:r>
          </a:p>
          <a:p>
            <a:r>
              <a:rPr lang="en-US" dirty="0"/>
              <a:t>    else:</a:t>
            </a:r>
          </a:p>
          <a:p>
            <a:r>
              <a:rPr lang="en-US" dirty="0"/>
              <a:t>        print(</a:t>
            </a:r>
            <a:r>
              <a:rPr lang="en-US" dirty="0" err="1"/>
              <a:t>f"Question</a:t>
            </a:r>
            <a:r>
              <a:rPr lang="en-US" dirty="0"/>
              <a:t> {</a:t>
            </a:r>
            <a:r>
              <a:rPr lang="en-US" dirty="0" err="1"/>
              <a:t>i</a:t>
            </a:r>
            <a:r>
              <a:rPr lang="en-US" dirty="0"/>
              <a:t> + 1}: No answer")</a:t>
            </a:r>
          </a:p>
          <a:p>
            <a:endParaRPr lang="en-US" dirty="0"/>
          </a:p>
          <a:p>
            <a:r>
              <a:rPr lang="en-US" dirty="0"/>
              <a:t>print(f"\</a:t>
            </a:r>
            <a:r>
              <a:rPr lang="en-US" dirty="0" err="1"/>
              <a:t>nScore</a:t>
            </a:r>
            <a:r>
              <a:rPr lang="en-US" dirty="0"/>
              <a:t>: {score}/{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answer_key</a:t>
            </a:r>
            <a:r>
              <a:rPr lang="en-US" dirty="0"/>
              <a:t>)}")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fruit = ["apple", "banana", "orange", "mango", "grape"]</a:t>
            </a:r>
          </a:p>
          <a:p>
            <a:r>
              <a:rPr lang="en-US" dirty="0"/>
              <a:t>vegetable = ["carrot", "potato", "tomato", "onion", "cabbage"]</a:t>
            </a:r>
          </a:p>
          <a:p>
            <a:endParaRPr lang="en-US" dirty="0"/>
          </a:p>
          <a:p>
            <a:r>
              <a:rPr lang="en-US" dirty="0" err="1"/>
              <a:t>user_input</a:t>
            </a:r>
            <a:r>
              <a:rPr lang="en-US" dirty="0"/>
              <a:t> = input("Enter fruits and vegetables separated by spaces: ")</a:t>
            </a:r>
          </a:p>
          <a:p>
            <a:endParaRPr lang="en-US" dirty="0"/>
          </a:p>
          <a:p>
            <a:r>
              <a:rPr lang="en-US" dirty="0"/>
              <a:t># Split the input into individual words</a:t>
            </a:r>
          </a:p>
          <a:p>
            <a:r>
              <a:rPr lang="en-US" dirty="0"/>
              <a:t>words = </a:t>
            </a:r>
            <a:r>
              <a:rPr lang="en-US" dirty="0" err="1"/>
              <a:t>user_input.lower</a:t>
            </a:r>
            <a:r>
              <a:rPr lang="en-US" dirty="0"/>
              <a:t>().split()</a:t>
            </a:r>
          </a:p>
          <a:p>
            <a:endParaRPr lang="en-US" dirty="0"/>
          </a:p>
          <a:p>
            <a:r>
              <a:rPr lang="en-US" dirty="0"/>
              <a:t># Create separate lists for the results</a:t>
            </a:r>
          </a:p>
          <a:p>
            <a:r>
              <a:rPr lang="en-US" dirty="0" err="1"/>
              <a:t>user_fruits</a:t>
            </a:r>
            <a:r>
              <a:rPr lang="en-US" dirty="0"/>
              <a:t> = []</a:t>
            </a:r>
          </a:p>
          <a:p>
            <a:r>
              <a:rPr lang="en-US" dirty="0" err="1"/>
              <a:t>user_vegetables</a:t>
            </a:r>
            <a:r>
              <a:rPr lang="en-US" dirty="0"/>
              <a:t> = []</a:t>
            </a:r>
          </a:p>
          <a:p>
            <a:endParaRPr lang="en-US" dirty="0"/>
          </a:p>
          <a:p>
            <a:r>
              <a:rPr lang="en-US" dirty="0"/>
              <a:t># Check each word</a:t>
            </a:r>
          </a:p>
          <a:p>
            <a:r>
              <a:rPr lang="en-US" dirty="0"/>
              <a:t>for word in words:</a:t>
            </a:r>
          </a:p>
          <a:p>
            <a:r>
              <a:rPr lang="en-US" dirty="0"/>
              <a:t>    if word in fruit:</a:t>
            </a:r>
          </a:p>
          <a:p>
            <a:r>
              <a:rPr lang="en-US" dirty="0"/>
              <a:t>        </a:t>
            </a:r>
            <a:r>
              <a:rPr lang="en-US" dirty="0" err="1"/>
              <a:t>user_fruits.append</a:t>
            </a:r>
            <a:r>
              <a:rPr lang="en-US" dirty="0"/>
              <a:t>(word)</a:t>
            </a:r>
          </a:p>
          <a:p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word in vegetable:</a:t>
            </a:r>
          </a:p>
          <a:p>
            <a:r>
              <a:rPr lang="en-US" dirty="0"/>
              <a:t>        </a:t>
            </a:r>
            <a:r>
              <a:rPr lang="en-US" dirty="0" err="1"/>
              <a:t>user_vegetables.append</a:t>
            </a:r>
            <a:r>
              <a:rPr lang="en-US" dirty="0"/>
              <a:t>(word)</a:t>
            </a:r>
          </a:p>
          <a:p>
            <a:endParaRPr lang="en-US" dirty="0"/>
          </a:p>
          <a:p>
            <a:r>
              <a:rPr lang="en-US" dirty="0"/>
              <a:t>print("Fruits:", </a:t>
            </a:r>
            <a:r>
              <a:rPr lang="en-US" dirty="0" err="1"/>
              <a:t>user_fruits</a:t>
            </a:r>
            <a:r>
              <a:rPr lang="en-US" dirty="0"/>
              <a:t>)</a:t>
            </a:r>
          </a:p>
          <a:p>
            <a:r>
              <a:rPr lang="en-US" dirty="0"/>
              <a:t>print("Vegetables:", </a:t>
            </a:r>
            <a:r>
              <a:rPr lang="en-US" dirty="0" err="1"/>
              <a:t>user_vegetables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0D0F0-1C54-7606-591D-8048004B5B7C}"/>
              </a:ext>
            </a:extLst>
          </p:cNvPr>
          <p:cNvSpPr txBox="1"/>
          <p:nvPr/>
        </p:nvSpPr>
        <p:spPr>
          <a:xfrm>
            <a:off x="1608221" y="1993244"/>
            <a:ext cx="3505200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dirty="0"/>
              <a:t>fruit = ["apple", "banana", "orange", "mango", "grape"]</a:t>
            </a:r>
          </a:p>
          <a:p>
            <a:r>
              <a:rPr lang="en-PH" dirty="0"/>
              <a:t>vegetable = ["carrot", "potato", "tomato", "onion", "cabbage"]</a:t>
            </a:r>
          </a:p>
          <a:p>
            <a:endParaRPr lang="en-PH" dirty="0"/>
          </a:p>
          <a:p>
            <a:r>
              <a:rPr lang="en-PH" dirty="0" err="1"/>
              <a:t>user_input</a:t>
            </a:r>
            <a:r>
              <a:rPr lang="en-PH" dirty="0"/>
              <a:t> = input("Enter fruits and vegetables separated by spaces: ")</a:t>
            </a:r>
          </a:p>
          <a:p>
            <a:endParaRPr lang="en-PH" dirty="0"/>
          </a:p>
          <a:p>
            <a:r>
              <a:rPr lang="en-PH" dirty="0"/>
              <a:t># Split the input into individual words</a:t>
            </a:r>
          </a:p>
          <a:p>
            <a:r>
              <a:rPr lang="en-PH" dirty="0"/>
              <a:t>words = </a:t>
            </a:r>
            <a:r>
              <a:rPr lang="en-PH" dirty="0" err="1"/>
              <a:t>user_input.lower</a:t>
            </a:r>
            <a:r>
              <a:rPr lang="en-PH" dirty="0"/>
              <a:t>().split()</a:t>
            </a:r>
          </a:p>
          <a:p>
            <a:endParaRPr lang="en-PH" dirty="0"/>
          </a:p>
          <a:p>
            <a:r>
              <a:rPr lang="en-PH" dirty="0"/>
              <a:t># Create separate lists for the results</a:t>
            </a:r>
          </a:p>
          <a:p>
            <a:r>
              <a:rPr lang="en-PH" dirty="0" err="1"/>
              <a:t>user_fruits</a:t>
            </a:r>
            <a:r>
              <a:rPr lang="en-PH" dirty="0"/>
              <a:t> = []</a:t>
            </a:r>
          </a:p>
          <a:p>
            <a:r>
              <a:rPr lang="en-PH" dirty="0" err="1"/>
              <a:t>user_vegetables</a:t>
            </a:r>
            <a:r>
              <a:rPr lang="en-PH" dirty="0"/>
              <a:t> = []</a:t>
            </a:r>
          </a:p>
          <a:p>
            <a:endParaRPr lang="en-PH" dirty="0"/>
          </a:p>
          <a:p>
            <a:r>
              <a:rPr lang="en-PH" dirty="0"/>
              <a:t># Check each word</a:t>
            </a:r>
          </a:p>
          <a:p>
            <a:r>
              <a:rPr lang="en-PH" dirty="0"/>
              <a:t>for word in words:</a:t>
            </a:r>
          </a:p>
          <a:p>
            <a:r>
              <a:rPr lang="en-PH" dirty="0"/>
              <a:t>    if word in fruit:</a:t>
            </a:r>
          </a:p>
          <a:p>
            <a:r>
              <a:rPr lang="en-PH" dirty="0"/>
              <a:t>        </a:t>
            </a:r>
            <a:r>
              <a:rPr lang="en-PH" dirty="0" err="1"/>
              <a:t>user_fruits.append</a:t>
            </a:r>
            <a:r>
              <a:rPr lang="en-PH" dirty="0"/>
              <a:t>(word)</a:t>
            </a:r>
          </a:p>
          <a:p>
            <a:r>
              <a:rPr lang="en-PH" dirty="0"/>
              <a:t>    </a:t>
            </a:r>
            <a:r>
              <a:rPr lang="en-PH" dirty="0" err="1"/>
              <a:t>elif</a:t>
            </a:r>
            <a:r>
              <a:rPr lang="en-PH" dirty="0"/>
              <a:t> word in vegetable:</a:t>
            </a:r>
          </a:p>
          <a:p>
            <a:r>
              <a:rPr lang="en-PH" dirty="0"/>
              <a:t>        </a:t>
            </a:r>
            <a:r>
              <a:rPr lang="en-PH" dirty="0" err="1"/>
              <a:t>user_vegetables.append</a:t>
            </a:r>
            <a:r>
              <a:rPr lang="en-PH" dirty="0"/>
              <a:t>(word)</a:t>
            </a:r>
          </a:p>
          <a:p>
            <a:endParaRPr lang="en-PH" dirty="0"/>
          </a:p>
          <a:p>
            <a:r>
              <a:rPr lang="en-PH" dirty="0"/>
              <a:t>print("Fruits:", </a:t>
            </a:r>
            <a:r>
              <a:rPr lang="en-PH" dirty="0" err="1"/>
              <a:t>user_fruits</a:t>
            </a:r>
            <a:r>
              <a:rPr lang="en-PH" dirty="0"/>
              <a:t>)</a:t>
            </a:r>
          </a:p>
          <a:p>
            <a:r>
              <a:rPr lang="en-PH" dirty="0"/>
              <a:t>print("Vegetables:", </a:t>
            </a:r>
            <a:r>
              <a:rPr lang="en-PH" dirty="0" err="1"/>
              <a:t>user_vegetables</a:t>
            </a:r>
            <a:r>
              <a:rPr lang="en-PH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= [</a:t>
            </a:r>
          </a:p>
          <a:p>
            <a:r>
              <a:rPr lang="en-US" dirty="0"/>
              <a:t>    "What is 2 + 2?",</a:t>
            </a:r>
          </a:p>
          <a:p>
            <a:r>
              <a:rPr lang="en-US" dirty="0"/>
              <a:t>    "What is the capital of the Philippines?",</a:t>
            </a:r>
          </a:p>
          <a:p>
            <a:r>
              <a:rPr lang="en-US" dirty="0"/>
              <a:t>    "What is 5 * 5?",</a:t>
            </a:r>
          </a:p>
          <a:p>
            <a:r>
              <a:rPr lang="en-US" dirty="0"/>
              <a:t>    "What color is the sky?",</a:t>
            </a:r>
          </a:p>
          <a:p>
            <a:r>
              <a:rPr lang="en-US" dirty="0"/>
              <a:t>    "What is 10 / 2?"</a:t>
            </a:r>
          </a:p>
          <a:p>
            <a:r>
              <a:rPr lang="en-US" dirty="0"/>
              <a:t>]</a:t>
            </a:r>
          </a:p>
          <a:p>
            <a:endParaRPr lang="en-US" dirty="0"/>
          </a:p>
          <a:p>
            <a:r>
              <a:rPr lang="en-US" dirty="0" err="1"/>
              <a:t>answer_key</a:t>
            </a:r>
            <a:r>
              <a:rPr lang="en-US" dirty="0"/>
              <a:t> = [</a:t>
            </a:r>
          </a:p>
          <a:p>
            <a:r>
              <a:rPr lang="en-US" dirty="0"/>
              <a:t>    "4",</a:t>
            </a:r>
          </a:p>
          <a:p>
            <a:r>
              <a:rPr lang="en-US" dirty="0"/>
              <a:t>    "manila",</a:t>
            </a:r>
          </a:p>
          <a:p>
            <a:r>
              <a:rPr lang="en-US" dirty="0"/>
              <a:t>    "25",</a:t>
            </a:r>
          </a:p>
          <a:p>
            <a:r>
              <a:rPr lang="en-US" dirty="0"/>
              <a:t>    "blue",</a:t>
            </a:r>
          </a:p>
          <a:p>
            <a:r>
              <a:rPr lang="en-US" dirty="0"/>
              <a:t>    "5"</a:t>
            </a:r>
          </a:p>
          <a:p>
            <a:r>
              <a:rPr lang="en-US" dirty="0"/>
              <a:t>]</a:t>
            </a:r>
          </a:p>
          <a:p>
            <a:endParaRPr lang="en-US" dirty="0"/>
          </a:p>
          <a:p>
            <a:r>
              <a:rPr lang="en-US" dirty="0"/>
              <a:t>rewards = 0</a:t>
            </a:r>
          </a:p>
          <a:p>
            <a:endParaRPr lang="en-US" dirty="0"/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range(5):</a:t>
            </a:r>
          </a:p>
          <a:p>
            <a:endParaRPr lang="en-US" dirty="0"/>
          </a:p>
          <a:p>
            <a:r>
              <a:rPr lang="en-US" dirty="0"/>
              <a:t>    while True:</a:t>
            </a:r>
          </a:p>
          <a:p>
            <a:r>
              <a:rPr lang="en-US" dirty="0"/>
              <a:t>        answer = input(f"\</a:t>
            </a:r>
            <a:r>
              <a:rPr lang="en-US" dirty="0" err="1"/>
              <a:t>nQuestion</a:t>
            </a:r>
            <a:r>
              <a:rPr lang="en-US" dirty="0"/>
              <a:t> {</a:t>
            </a:r>
            <a:r>
              <a:rPr lang="en-US" dirty="0" err="1"/>
              <a:t>i</a:t>
            </a:r>
            <a:r>
              <a:rPr lang="en-US" dirty="0"/>
              <a:t> + 1}: {questions[</a:t>
            </a:r>
            <a:r>
              <a:rPr lang="en-US" dirty="0" err="1"/>
              <a:t>i</a:t>
            </a:r>
            <a:r>
              <a:rPr lang="en-US" dirty="0"/>
              <a:t>]} ")</a:t>
            </a:r>
          </a:p>
          <a:p>
            <a:r>
              <a:rPr lang="en-US" dirty="0"/>
              <a:t>        answer = </a:t>
            </a:r>
            <a:r>
              <a:rPr lang="en-US" dirty="0" err="1"/>
              <a:t>answer.lower</a:t>
            </a:r>
            <a:r>
              <a:rPr lang="en-US" dirty="0"/>
              <a:t>().strip()</a:t>
            </a:r>
          </a:p>
          <a:p>
            <a:endParaRPr lang="en-US" dirty="0"/>
          </a:p>
          <a:p>
            <a:r>
              <a:rPr lang="en-US" dirty="0"/>
              <a:t>        if answer == </a:t>
            </a:r>
            <a:r>
              <a:rPr lang="en-US" dirty="0" err="1"/>
              <a:t>answer_key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]:</a:t>
            </a:r>
          </a:p>
          <a:p>
            <a:r>
              <a:rPr lang="en-US" dirty="0"/>
              <a:t>            print("Correct! +1 reward!")</a:t>
            </a:r>
          </a:p>
          <a:p>
            <a:r>
              <a:rPr lang="en-US" dirty="0"/>
              <a:t>            rewards += 1</a:t>
            </a:r>
          </a:p>
          <a:p>
            <a:r>
              <a:rPr lang="en-US" dirty="0"/>
              <a:t>            break</a:t>
            </a:r>
          </a:p>
          <a:p>
            <a:r>
              <a:rPr lang="en-US" dirty="0"/>
              <a:t>        else:</a:t>
            </a:r>
          </a:p>
          <a:p>
            <a:r>
              <a:rPr lang="en-US" dirty="0"/>
              <a:t>            print("Wrong! Try again.")</a:t>
            </a:r>
          </a:p>
          <a:p>
            <a:endParaRPr lang="en-US" dirty="0"/>
          </a:p>
          <a:p>
            <a:r>
              <a:rPr lang="en-US" dirty="0"/>
              <a:t>print("\n===== COMPLETE =====")</a:t>
            </a:r>
          </a:p>
          <a:p>
            <a:r>
              <a:rPr lang="en-US" dirty="0"/>
              <a:t>print("You perfected all 5 questions!")</a:t>
            </a:r>
          </a:p>
          <a:p>
            <a:r>
              <a:rPr lang="en-US" dirty="0"/>
              <a:t>print(</a:t>
            </a:r>
            <a:r>
              <a:rPr lang="en-US" dirty="0" err="1"/>
              <a:t>f"Total</a:t>
            </a:r>
            <a:r>
              <a:rPr lang="en-US" dirty="0"/>
              <a:t> rewards: {rewards}")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8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9.png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BASIC CONCEPTS IN 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Machines</a:t>
            </a:r>
            <a:endParaRPr lang="en-US" sz="46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from Data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 &amp; Reinforcement Learning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turning point of the course: from AI users to thinking like IT professionals.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92640" y="6400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work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4722" y="842162"/>
            <a:ext cx="373075" cy="3730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65276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work/icons/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9181" y="669341"/>
            <a:ext cx="307238" cy="30723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464040" y="1600200"/>
            <a:ext cx="640080" cy="64008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11" name="Image 2" descr="/home/claude/work/icons/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0461" y="1766621"/>
            <a:ext cx="307238" cy="30723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0515600" y="15087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3" descr="/home/claude/work/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7682" y="1710842"/>
            <a:ext cx="373075" cy="3730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Fits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work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197327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6276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Learning Outcome (CLO1)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828800" y="19659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basic concepts, scope, and evolution of Artificial Intelligence.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EAF2F8"/>
          </a:solidFill>
          <a:ln w="12700">
            <a:solidFill>
              <a:srgbClr val="AEC3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3364992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work/icons/ques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875" y="3555187"/>
            <a:ext cx="351130" cy="3511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Goal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828800" y="3584448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machines learn from data, and what distinguishes supervised, unsupervised, and reinforcement learning approaches?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48640" y="48920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reference: Week 3 · Basic Concepts in Machine Learning · Learning Activities: Recitation, Topic Demonstration, Quiz, Think–Share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the lesson, students should be able to: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0195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ork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594" y="2011314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83080"/>
            <a:ext cx="100885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Machine Learning is and how it differs from traditional programming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" y="267919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work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594" y="2788554"/>
            <a:ext cx="201900" cy="201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560320"/>
            <a:ext cx="100885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why data is essential to how AI systems learn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3756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13232" y="345643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work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594" y="3565794"/>
            <a:ext cx="201900" cy="2019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337560"/>
            <a:ext cx="100885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Supervised, Unsupervised, and Reinforcement Learning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11480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13232" y="423367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work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594" y="4343034"/>
            <a:ext cx="201900" cy="2019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4114800"/>
            <a:ext cx="100885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datasets, model training, and testing are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489204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13232" y="501091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4" descr="/home/claude/work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594" y="5120274"/>
            <a:ext cx="201900" cy="2019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4892040"/>
            <a:ext cx="100885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which learning approach fits different real-world scenarios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548640" y="566928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13232" y="578815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5" descr="/home/claude/work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594" y="5897514"/>
            <a:ext cx="201900" cy="2019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325880" y="5669280"/>
            <a:ext cx="100885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what was learned by designing an original, simple AI solution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3-hour session · 180 minutes total · one break included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64328" cy="278892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828800"/>
            <a:ext cx="4358488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Review — Week 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998568" y="1828800"/>
            <a:ext cx="8686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135124"/>
            <a:ext cx="5364328" cy="2788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135124"/>
            <a:ext cx="4358488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Icebreaker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998568" y="2135124"/>
            <a:ext cx="8686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5364328" cy="278892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441448"/>
            <a:ext cx="4358488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98568" y="2441448"/>
            <a:ext cx="8686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747772"/>
            <a:ext cx="5364328" cy="2788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747772"/>
            <a:ext cx="4358488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Get an Answer + Spam Example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98568" y="2747772"/>
            <a:ext cx="8686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054096"/>
            <a:ext cx="5364328" cy="278892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054096"/>
            <a:ext cx="4358488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Data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98568" y="3054096"/>
            <a:ext cx="8686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60420"/>
            <a:ext cx="5364328" cy="2788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360420"/>
            <a:ext cx="4358488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Demo + Garbage In, Garbage Out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98568" y="3360420"/>
            <a:ext cx="8686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666744"/>
            <a:ext cx="5364328" cy="278892"/>
          </a:xfrm>
          <a:prstGeom prst="rect">
            <a:avLst/>
          </a:prstGeom>
          <a:solidFill>
            <a:srgbClr val="FCEEDC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3666744"/>
            <a:ext cx="4358488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BREAK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98568" y="3666744"/>
            <a:ext cx="8686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973068"/>
            <a:ext cx="5364328" cy="2788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973068"/>
            <a:ext cx="4358488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Machine Learning (overview)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98568" y="3973068"/>
            <a:ext cx="8686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78728" y="1828800"/>
            <a:ext cx="5364328" cy="278892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29" name="Text 27"/>
          <p:cNvSpPr/>
          <p:nvPr/>
        </p:nvSpPr>
        <p:spPr>
          <a:xfrm>
            <a:off x="6388456" y="1828800"/>
            <a:ext cx="4358488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(deep dive)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728655" y="1828800"/>
            <a:ext cx="8686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78728" y="2135124"/>
            <a:ext cx="5364328" cy="2788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388456" y="2135124"/>
            <a:ext cx="4358488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(deep dive)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728655" y="2135124"/>
            <a:ext cx="8686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78728" y="2441448"/>
            <a:ext cx="5364328" cy="278892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35" name="Text 33"/>
          <p:cNvSpPr/>
          <p:nvPr/>
        </p:nvSpPr>
        <p:spPr>
          <a:xfrm>
            <a:off x="6388456" y="2441448"/>
            <a:ext cx="4358488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(deep dive)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728655" y="2441448"/>
            <a:ext cx="8686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78728" y="2747772"/>
            <a:ext cx="5364328" cy="2788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388456" y="2747772"/>
            <a:ext cx="4358488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+ Classroom Demonstration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728655" y="2747772"/>
            <a:ext cx="8686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78728" y="3054096"/>
            <a:ext cx="5364328" cy="278892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41" name="Text 39"/>
          <p:cNvSpPr/>
          <p:nvPr/>
        </p:nvSpPr>
        <p:spPr>
          <a:xfrm>
            <a:off x="6388456" y="3054096"/>
            <a:ext cx="4358488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 Training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0728655" y="3054096"/>
            <a:ext cx="8686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78728" y="3360420"/>
            <a:ext cx="5364328" cy="2788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388456" y="3360420"/>
            <a:ext cx="4358488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Activity: Individual Application &amp; Sharing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0728655" y="3360420"/>
            <a:ext cx="8686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278728" y="3666744"/>
            <a:ext cx="5364328" cy="278892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47" name="Text 45"/>
          <p:cNvSpPr/>
          <p:nvPr/>
        </p:nvSpPr>
        <p:spPr>
          <a:xfrm>
            <a:off x="6388456" y="3666744"/>
            <a:ext cx="4358488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10728655" y="3666744"/>
            <a:ext cx="8686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278728" y="3973068"/>
            <a:ext cx="5364328" cy="2788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6388456" y="3973068"/>
            <a:ext cx="4358488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Output Orientation + Wrap-Up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10728655" y="3973068"/>
            <a:ext cx="8686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work/icons/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64556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Review — Week 2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1B2B44"/>
          </a:solidFill>
          <a:ln/>
        </p:spPr>
      </p:sp>
      <p:sp>
        <p:nvSpPr>
          <p:cNvPr id="6" name="Shape 3"/>
          <p:cNvSpPr/>
          <p:nvPr/>
        </p:nvSpPr>
        <p:spPr>
          <a:xfrm>
            <a:off x="749808" y="1719072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15544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five branches of AI?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1B2B44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2633472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17320" y="24688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branch does ChatGPT belong to?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338328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1B2B44"/>
          </a:solidFill>
          <a:ln/>
        </p:spPr>
      </p:sp>
      <p:sp>
        <p:nvSpPr>
          <p:cNvPr id="14" name="Shape 11"/>
          <p:cNvSpPr/>
          <p:nvPr/>
        </p:nvSpPr>
        <p:spPr>
          <a:xfrm>
            <a:off x="749808" y="3547872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17320" y="33832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branch recognizes faces?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429768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1B2B44"/>
          </a:solidFill>
          <a:ln/>
        </p:spPr>
      </p:sp>
      <p:sp>
        <p:nvSpPr>
          <p:cNvPr id="18" name="Shape 15"/>
          <p:cNvSpPr/>
          <p:nvPr/>
        </p:nvSpPr>
        <p:spPr>
          <a:xfrm>
            <a:off x="749808" y="4462272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17320" y="42976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branch powers Google Translate?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5303520"/>
            <a:ext cx="11094415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5303520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“Last week we learned Machine Learning is one branch of AI. Today we'll discover how machines actually learn.”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4368" y="5029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work/icons/p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337" y="71689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4630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ICEBREAKER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1828800"/>
            <a:ext cx="94484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did you learn to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recognize a dog?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661008" y="329184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61008" y="3291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947008" y="329184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47008" y="3291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33008" y="329184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33008" y="3291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519008" y="329184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19008" y="3291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286000" y="4206240"/>
            <a:ext cx="7619695" cy="594360"/>
          </a:xfrm>
          <a:prstGeom prst="roundRect">
            <a:avLst>
              <a:gd name="adj" fmla="val 12308"/>
            </a:avLst>
          </a:prstGeom>
          <a:solidFill>
            <a:srgbClr val="0B1F3A"/>
          </a:solidFill>
          <a:ln/>
        </p:spPr>
      </p:sp>
      <p:sp>
        <p:nvSpPr>
          <p:cNvPr id="15" name="Text 12"/>
          <p:cNvSpPr/>
          <p:nvPr/>
        </p:nvSpPr>
        <p:spPr>
          <a:xfrm>
            <a:off x="2286000" y="4206240"/>
            <a:ext cx="76196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 computer learn the same way?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Machine Learning?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work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188183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50876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is a branch of AI that allows computers to learn patterns from data instead of being explicitly programmed for every possible situation.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9718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is one branch of AI — the one focused on learning from data.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520440"/>
            <a:ext cx="2567864" cy="1188720"/>
          </a:xfrm>
          <a:prstGeom prst="roundRect">
            <a:avLst>
              <a:gd name="adj" fmla="val 4615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39964" y="365760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work/icons/envelo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120" y="3809756"/>
            <a:ext cx="280904" cy="2809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1792" y="4343400"/>
            <a:ext cx="242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390824" y="3520440"/>
            <a:ext cx="2567864" cy="1188720"/>
          </a:xfrm>
          <a:prstGeom prst="roundRect">
            <a:avLst>
              <a:gd name="adj" fmla="val 4615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382148" y="365760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work/icons/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4304" y="3809756"/>
            <a:ext cx="280904" cy="2809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63976" y="4343400"/>
            <a:ext cx="242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33008" y="3520440"/>
            <a:ext cx="2567864" cy="1188720"/>
          </a:xfrm>
          <a:prstGeom prst="roundRect">
            <a:avLst>
              <a:gd name="adj" fmla="val 4615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224332" y="365760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work/icons/check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488" y="3809756"/>
            <a:ext cx="280904" cy="2809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06160" y="4343400"/>
            <a:ext cx="242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9075191" y="3520440"/>
            <a:ext cx="2567864" cy="1188720"/>
          </a:xfrm>
          <a:prstGeom prst="roundRect">
            <a:avLst>
              <a:gd name="adj" fmla="val 4615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0066515" y="365760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4" descr="/home/claude/work/icons/st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8671" y="3809756"/>
            <a:ext cx="280904" cy="28090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48343" y="4343400"/>
            <a:ext cx="242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in Everyday Life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go deeper, notice how often you already interact with ML-powered systems.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1525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299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ork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216072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11680"/>
            <a:ext cx="24636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&amp; Navigation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30580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traffic and travel time from millions of past trips.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38218" y="1828800"/>
            <a:ext cx="351525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66818" y="20299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work/icons/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578" y="216072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06898" y="2011680"/>
            <a:ext cx="24636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Recommendations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66818" y="2606040"/>
            <a:ext cx="30580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shows or songs based on your viewing and listening history.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27797" y="1828800"/>
            <a:ext cx="351525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6397" y="20299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work/icons/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156" y="216072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96477" y="2011680"/>
            <a:ext cx="24636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Fraud Alerts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56397" y="2606040"/>
            <a:ext cx="30580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unusual transactions that don't match your normal spending pattern.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351525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38587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work/icons/usergr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" y="3989527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840480"/>
            <a:ext cx="24636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Unlock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4434840"/>
            <a:ext cx="30580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unique features of your face to recognize you securely.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38218" y="3657600"/>
            <a:ext cx="351525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66818" y="38587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work/icons/comm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7578" y="3989527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06898" y="3840480"/>
            <a:ext cx="24636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Text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66818" y="4434840"/>
            <a:ext cx="30580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your typing patterns to suggest the next word.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27797" y="3657600"/>
            <a:ext cx="351525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6397" y="38587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work/icons/chartli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7156" y="3989527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96477" y="3840480"/>
            <a:ext cx="24636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Forecasting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56397" y="4434840"/>
            <a:ext cx="30580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historical weather data to predict tomorrow's forecast.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Get an Answer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64328" cy="4892040"/>
          </a:xfrm>
          <a:prstGeom prst="roundRect">
            <a:avLst>
              <a:gd name="adj" fmla="val 1495"/>
            </a:avLst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4815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Programming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901620" y="219456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ork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795" y="236573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07792"/>
            <a:ext cx="499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3236976"/>
            <a:ext cx="499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E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901620" y="354787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work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795" y="3719048"/>
            <a:ext cx="316017" cy="3160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4261104"/>
            <a:ext cx="499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31520" y="4590288"/>
            <a:ext cx="499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E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2901620" y="4901184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work/icons/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2795" y="5072360"/>
            <a:ext cx="316017" cy="31601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" y="5614416"/>
            <a:ext cx="499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278728" y="1417320"/>
            <a:ext cx="5364328" cy="4892040"/>
          </a:xfrm>
          <a:prstGeom prst="roundRect">
            <a:avLst>
              <a:gd name="adj" fmla="val 1495"/>
            </a:avLst>
          </a:prstGeom>
          <a:solidFill>
            <a:srgbClr val="1C7293"/>
          </a:solidFill>
          <a:ln/>
        </p:spPr>
      </p:sp>
      <p:sp>
        <p:nvSpPr>
          <p:cNvPr id="17" name="Text 12"/>
          <p:cNvSpPr/>
          <p:nvPr/>
        </p:nvSpPr>
        <p:spPr>
          <a:xfrm>
            <a:off x="6553048" y="1645920"/>
            <a:ext cx="4815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8631707" y="219456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3" descr="/home/claude/work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2883" y="2365736"/>
            <a:ext cx="316017" cy="31601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61608" y="2907792"/>
            <a:ext cx="499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6461608" y="3236976"/>
            <a:ext cx="499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E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22" name="Shape 16"/>
          <p:cNvSpPr/>
          <p:nvPr/>
        </p:nvSpPr>
        <p:spPr>
          <a:xfrm>
            <a:off x="8631707" y="3547872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4" descr="/home/claude/work/icons/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2883" y="3719048"/>
            <a:ext cx="316017" cy="31601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61608" y="4261104"/>
            <a:ext cx="499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Answers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461608" y="4590288"/>
            <a:ext cx="499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E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26" name="Shape 19"/>
          <p:cNvSpPr/>
          <p:nvPr/>
        </p:nvSpPr>
        <p:spPr>
          <a:xfrm>
            <a:off x="8631707" y="4901184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5" descr="/home/claude/work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2883" y="5072360"/>
            <a:ext cx="316017" cy="31601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61608" y="5614416"/>
            <a:ext cx="499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Learns Rules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Example: Spam Detection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64328" cy="2377440"/>
          </a:xfrm>
          <a:prstGeom prst="roundRect">
            <a:avLst>
              <a:gd name="adj" fmla="val 3077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5C7080"/>
          </a:solidFill>
          <a:ln/>
        </p:spPr>
      </p:sp>
      <p:pic>
        <p:nvPicPr>
          <p:cNvPr id="5" name="Image 0" descr="/home/claude/work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19495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74520"/>
            <a:ext cx="408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Method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06040"/>
            <a:ext cx="48156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every spam keyword by hand, one rule at a time.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78728" y="1554480"/>
            <a:ext cx="5364328" cy="2377440"/>
          </a:xfrm>
          <a:prstGeom prst="roundRect">
            <a:avLst>
              <a:gd name="adj" fmla="val 3077"/>
            </a:avLst>
          </a:prstGeom>
          <a:solidFill>
            <a:srgbClr val="065A82"/>
          </a:solidFill>
          <a:ln/>
        </p:spPr>
      </p:sp>
      <p:sp>
        <p:nvSpPr>
          <p:cNvPr id="9" name="Shape 6"/>
          <p:cNvSpPr/>
          <p:nvPr/>
        </p:nvSpPr>
        <p:spPr>
          <a:xfrm>
            <a:off x="6553048" y="1783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work/icons/envelo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468" y="194950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30288" y="1874520"/>
            <a:ext cx="408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Method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553048" y="2606040"/>
            <a:ext cx="48156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computer using thousands of spam and non-spam emails.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206240"/>
            <a:ext cx="11094415" cy="594360"/>
          </a:xfrm>
          <a:prstGeom prst="roundRect">
            <a:avLst>
              <a:gd name="adj" fmla="val 12308"/>
            </a:avLst>
          </a:prstGeom>
          <a:solidFill>
            <a:srgbClr val="0B1F3A"/>
          </a:solidFill>
          <a:ln/>
        </p:spPr>
      </p:sp>
      <p:sp>
        <p:nvSpPr>
          <p:cNvPr id="14" name="Text 10"/>
          <p:cNvSpPr/>
          <p:nvPr/>
        </p:nvSpPr>
        <p:spPr>
          <a:xfrm>
            <a:off x="548640" y="420624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Which approach is smarter?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822960" cy="82296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3" name="Image 0" descr="/home/claude/work/icons/drop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103693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685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“Data is the fuel of</a:t>
            </a:r>
            <a:endParaRPr lang="en-US" sz="3000" dirty="0"/>
          </a:p>
          <a:p>
            <a:pPr marL="0" indent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Intelligence.”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data: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953512"/>
            <a:ext cx="256032" cy="256032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cannot learn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456432"/>
            <a:ext cx="256032" cy="256032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cannot improve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959352"/>
            <a:ext cx="256032" cy="256032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cannot make predictions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949440" y="2468880"/>
            <a:ext cx="4663440" cy="2148840"/>
          </a:xfrm>
          <a:prstGeom prst="roundRect">
            <a:avLst>
              <a:gd name="adj" fmla="val 3404"/>
            </a:avLst>
          </a:prstGeom>
          <a:solidFill>
            <a:srgbClr val="1C7293"/>
          </a:solidFill>
          <a:ln/>
        </p:spPr>
      </p:sp>
      <p:sp>
        <p:nvSpPr>
          <p:cNvPr id="13" name="Shape 10"/>
          <p:cNvSpPr/>
          <p:nvPr/>
        </p:nvSpPr>
        <p:spPr>
          <a:xfrm>
            <a:off x="7223760" y="2697480"/>
            <a:ext cx="640080" cy="64008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14" name="Image 1" descr="/home/claude/work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181" y="286390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23760" y="342900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teaches AI what “correct” looks like — it's the raw material every model is built from.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Kinds of Data Does AI Use?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1691640"/>
          </a:xfrm>
          <a:prstGeom prst="roundRect">
            <a:avLst>
              <a:gd name="adj" fmla="val 4324"/>
            </a:avLst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1691640"/>
            <a:ext cx="548640" cy="54864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pic>
        <p:nvPicPr>
          <p:cNvPr id="5" name="Image 0" descr="/home/claude/work/icons/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183428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64208"/>
            <a:ext cx="417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" y="2240280"/>
            <a:ext cx="48522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in rows and columns, like a spreadsheet. Example: age, income, and location in a customer table.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78728" y="1463040"/>
            <a:ext cx="5364328" cy="1691640"/>
          </a:xfrm>
          <a:prstGeom prst="roundRect">
            <a:avLst>
              <a:gd name="adj" fmla="val 4324"/>
            </a:avLst>
          </a:prstGeom>
          <a:solidFill>
            <a:srgbClr val="1C7293"/>
          </a:solidFill>
          <a:ln/>
        </p:spPr>
      </p:sp>
      <p:sp>
        <p:nvSpPr>
          <p:cNvPr id="9" name="Shape 6"/>
          <p:cNvSpPr/>
          <p:nvPr/>
        </p:nvSpPr>
        <p:spPr>
          <a:xfrm>
            <a:off x="6534760" y="1691640"/>
            <a:ext cx="548640" cy="54864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pic>
        <p:nvPicPr>
          <p:cNvPr id="10" name="Image 1" descr="/home/claude/work/icons/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406" y="183428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38848" y="1664208"/>
            <a:ext cx="417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Data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534760" y="2240280"/>
            <a:ext cx="48522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format — photos, videos, audio, free-text messages. Harder to organize, but rich in information.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337560"/>
            <a:ext cx="5364328" cy="1691640"/>
          </a:xfrm>
          <a:prstGeom prst="roundRect">
            <a:avLst>
              <a:gd name="adj" fmla="val 4324"/>
            </a:avLst>
          </a:prstGeom>
          <a:solidFill>
            <a:srgbClr val="0B1F3A"/>
          </a:solidFill>
          <a:ln/>
        </p:spPr>
      </p:sp>
      <p:sp>
        <p:nvSpPr>
          <p:cNvPr id="14" name="Shape 10"/>
          <p:cNvSpPr/>
          <p:nvPr/>
        </p:nvSpPr>
        <p:spPr>
          <a:xfrm>
            <a:off x="804672" y="3566160"/>
            <a:ext cx="548640" cy="54864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pic>
        <p:nvPicPr>
          <p:cNvPr id="15" name="Image 2" descr="/home/claude/work/icons/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318" y="370880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538728"/>
            <a:ext cx="417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Data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04672" y="4114800"/>
            <a:ext cx="48522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example already has the correct answer attached. Example: an email tagged “spam” or “not spam.”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78728" y="3337560"/>
            <a:ext cx="5364328" cy="1691640"/>
          </a:xfrm>
          <a:prstGeom prst="roundRect">
            <a:avLst>
              <a:gd name="adj" fmla="val 4324"/>
            </a:avLst>
          </a:prstGeom>
          <a:solidFill>
            <a:srgbClr val="5C7080"/>
          </a:solidFill>
          <a:ln/>
        </p:spPr>
      </p:sp>
      <p:sp>
        <p:nvSpPr>
          <p:cNvPr id="19" name="Shape 14"/>
          <p:cNvSpPr/>
          <p:nvPr/>
        </p:nvSpPr>
        <p:spPr>
          <a:xfrm>
            <a:off x="6534760" y="3566160"/>
            <a:ext cx="548640" cy="54864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pic>
        <p:nvPicPr>
          <p:cNvPr id="20" name="Image 3" descr="/home/claude/work/icons/ques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406" y="370880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38848" y="3538728"/>
            <a:ext cx="417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Unlabeled Data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534760" y="4114800"/>
            <a:ext cx="48522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examples with no correct answer given. The computer must find patterns on its own.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will train AI better?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64328" cy="2468880"/>
          </a:xfrm>
          <a:prstGeom prst="roundRect">
            <a:avLst>
              <a:gd name="adj" fmla="val 2963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19324" y="1783080"/>
            <a:ext cx="822960" cy="822960"/>
          </a:xfrm>
          <a:prstGeom prst="ellipse">
            <a:avLst/>
          </a:prstGeom>
          <a:solidFill>
            <a:srgbClr val="5C7080"/>
          </a:solidFill>
          <a:ln/>
        </p:spPr>
      </p:sp>
      <p:pic>
        <p:nvPicPr>
          <p:cNvPr id="5" name="Image 0" descr="/home/claude/work/icons/im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293" y="199705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97480"/>
            <a:ext cx="5364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3337560"/>
            <a:ext cx="536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pictures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78728" y="1554480"/>
            <a:ext cx="5364328" cy="2468880"/>
          </a:xfrm>
          <a:prstGeom prst="roundRect">
            <a:avLst>
              <a:gd name="adj" fmla="val 2963"/>
            </a:avLst>
          </a:prstGeom>
          <a:solidFill>
            <a:srgbClr val="1C7293"/>
          </a:solidFill>
          <a:ln/>
        </p:spPr>
      </p:sp>
      <p:sp>
        <p:nvSpPr>
          <p:cNvPr id="9" name="Shape 6"/>
          <p:cNvSpPr/>
          <p:nvPr/>
        </p:nvSpPr>
        <p:spPr>
          <a:xfrm>
            <a:off x="8549411" y="1783080"/>
            <a:ext cx="822960" cy="82296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10" name="Image 1" descr="/home/claude/work/icons/im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381" y="199705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78728" y="2697480"/>
            <a:ext cx="5364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6278728" y="3337560"/>
            <a:ext cx="536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pictures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" y="42519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Garbage In, Garbage 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data leads to bad AI.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47672"/>
            <a:ext cx="256032" cy="256032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 images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50592"/>
            <a:ext cx="256032" cy="256032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labels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53512"/>
            <a:ext cx="256032" cy="256032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information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0" y="173736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2468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0" y="2926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AI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35204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predictions and decisions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SECTION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Types of Machine Learning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342900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 ·  Unsupervised  ·  Reinforcement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87088" y="48463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work/icons/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057" y="5060290"/>
            <a:ext cx="395021" cy="39502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84368" y="48463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work/icons/rand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8337" y="5060290"/>
            <a:ext cx="395021" cy="39502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781648" y="4846320"/>
            <a:ext cx="822960" cy="82296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10" name="Image 2" descr="/home/claude/work/icons/troph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617" y="5060290"/>
            <a:ext cx="395021" cy="3950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OF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/home/claude/work/icons/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94366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64328" cy="3383280"/>
          </a:xfrm>
          <a:prstGeom prst="roundRect">
            <a:avLst>
              <a:gd name="adj" fmla="val 2162"/>
            </a:avLst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92024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Analogy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48156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teacher gives students questions and an answer key. Students learn from the correct answers — Machine Learning works the same way.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4206240"/>
            <a:ext cx="48156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spam detection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house prices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78728" y="1691640"/>
            <a:ext cx="536432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AEC3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57971" y="21488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6553048" y="3337560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Phrase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44488" y="3657600"/>
            <a:ext cx="46328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Learns from labeled data.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OF 3 · SUPERVISED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088538" cy="2743200"/>
          </a:xfrm>
          <a:prstGeom prst="roundRect">
            <a:avLst>
              <a:gd name="adj" fmla="val 2667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27149" y="21031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work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344" y="22933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017520"/>
            <a:ext cx="27227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Data In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26313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examples, each with the correct answer already attached.</a:t>
            </a:r>
            <a:endParaRPr lang="en-US" sz="1100" dirty="0"/>
          </a:p>
        </p:txBody>
      </p:sp>
      <p:pic>
        <p:nvPicPr>
          <p:cNvPr id="9" name="Image 1" descr="/home/claude/wor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8890" y="3063240"/>
            <a:ext cx="457200" cy="457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094378" y="1828800"/>
            <a:ext cx="3088538" cy="2743200"/>
          </a:xfrm>
          <a:prstGeom prst="roundRect">
            <a:avLst>
              <a:gd name="adj" fmla="val 2667"/>
            </a:avLst>
          </a:prstGeom>
          <a:solidFill>
            <a:srgbClr val="1C7293"/>
          </a:solidFill>
          <a:ln w="12700">
            <a:solidFill>
              <a:srgbClr val="AEC3D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272888" y="2103120"/>
            <a:ext cx="731520" cy="73152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12" name="Image 2" descr="/home/claude/work/icons/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3083" y="2293315"/>
            <a:ext cx="351130" cy="3511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77258" y="3017520"/>
            <a:ext cx="27227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322978" y="3520440"/>
            <a:ext cx="26313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compares its guesses to the correct answers and adjusts.</a:t>
            </a:r>
            <a:endParaRPr lang="en-US" sz="1100" dirty="0"/>
          </a:p>
        </p:txBody>
      </p:sp>
      <p:pic>
        <p:nvPicPr>
          <p:cNvPr id="15" name="Image 3" descr="/home/claude/wor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629" y="3063240"/>
            <a:ext cx="457200" cy="457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640117" y="1828800"/>
            <a:ext cx="3088538" cy="2743200"/>
          </a:xfrm>
          <a:prstGeom prst="roundRect">
            <a:avLst>
              <a:gd name="adj" fmla="val 2667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818626" y="21031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4" descr="/home/claude/work/icons/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8821" y="2293315"/>
            <a:ext cx="351130" cy="35113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822997" y="3017520"/>
            <a:ext cx="27227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7868717" y="3520440"/>
            <a:ext cx="26313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trained, it predicts answers for brand-new, unseen examples.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48640" y="4800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correct answers are known in advance, the model can be graded and corrected while it learns.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OF 3 · SUPERVISED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8477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5269" y="20116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work/icons/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464" y="22018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8036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29361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emails labeled “spam” or “not spam” to sort new mail automatically.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53458" y="1737360"/>
            <a:ext cx="348477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30088" y="20116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work/icons/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283" y="220187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36338" y="288036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27778" y="3383280"/>
            <a:ext cx="29361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past loan outcomes to predict whether a new applicant is likely to repay.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58277" y="1737360"/>
            <a:ext cx="348477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34906" y="20116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work/icons/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5101" y="220187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41157" y="288036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32597" y="3383280"/>
            <a:ext cx="29361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labeled scans or symptoms to flag a likely condition for a doctor to confirm.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OF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/home/claude/work/icons/rand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94366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Learning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64328" cy="3383280"/>
          </a:xfrm>
          <a:prstGeom prst="roundRect">
            <a:avLst>
              <a:gd name="adj" fmla="val 2162"/>
            </a:avLst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92024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Classroom Analogy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48156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Imagine a classroom where no one knows each other. Students naturally form friend groups — no teacher tells them how. The computer groups similar data the same way.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4206240"/>
            <a:ext cx="48156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recommendation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78728" y="1691640"/>
            <a:ext cx="536432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AEC3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57971" y="21488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6553048" y="3337560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Phrase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44488" y="3657600"/>
            <a:ext cx="46328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Finds hidden patterns in unlabeled data.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OF 3 · UNSUPERVISED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088538" cy="2743200"/>
          </a:xfrm>
          <a:prstGeom prst="roundRect">
            <a:avLst>
              <a:gd name="adj" fmla="val 2667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27149" y="21031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work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344" y="22933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017520"/>
            <a:ext cx="27227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Unlabeled Data In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26313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examples with no correct answers attached — just the data itself.</a:t>
            </a:r>
            <a:endParaRPr lang="en-US" sz="1100" dirty="0"/>
          </a:p>
        </p:txBody>
      </p:sp>
      <p:pic>
        <p:nvPicPr>
          <p:cNvPr id="9" name="Image 1" descr="/home/claude/wor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8890" y="3063240"/>
            <a:ext cx="457200" cy="457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094378" y="1828800"/>
            <a:ext cx="3088538" cy="2743200"/>
          </a:xfrm>
          <a:prstGeom prst="roundRect">
            <a:avLst>
              <a:gd name="adj" fmla="val 2667"/>
            </a:avLst>
          </a:prstGeom>
          <a:solidFill>
            <a:srgbClr val="1C7293"/>
          </a:solidFill>
          <a:ln w="12700">
            <a:solidFill>
              <a:srgbClr val="AEC3D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272888" y="2103120"/>
            <a:ext cx="731520" cy="73152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12" name="Image 2" descr="/home/claude/work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3083" y="2293315"/>
            <a:ext cx="351130" cy="3511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77258" y="3017520"/>
            <a:ext cx="27227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Finds Patterns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322978" y="3520440"/>
            <a:ext cx="26313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looks for similarities and natural groupings on its own.</a:t>
            </a:r>
            <a:endParaRPr lang="en-US" sz="1100" dirty="0"/>
          </a:p>
        </p:txBody>
      </p:sp>
      <p:pic>
        <p:nvPicPr>
          <p:cNvPr id="15" name="Image 3" descr="/home/claude/wor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629" y="3063240"/>
            <a:ext cx="457200" cy="457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640117" y="1828800"/>
            <a:ext cx="3088538" cy="2743200"/>
          </a:xfrm>
          <a:prstGeom prst="roundRect">
            <a:avLst>
              <a:gd name="adj" fmla="val 2667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818626" y="21031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4" descr="/home/claude/work/icons/check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8821" y="2293315"/>
            <a:ext cx="351130" cy="35113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822997" y="3017520"/>
            <a:ext cx="27227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Emerge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7868717" y="3520440"/>
            <a:ext cx="26313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items are grouped together, revealing structure humans might miss.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48640" y="4800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there is no answer key, success is measured by how meaningful and useful the discovered groups are.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OF 3 · UNSUPERVISED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8477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5269" y="2011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ork/icons/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464" y="22018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8036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29361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shoppers with similar buying habits so marketing can target each group differently.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53458" y="1737360"/>
            <a:ext cx="348477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30088" y="2011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work/icons/com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283" y="220187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36338" y="288036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Discovery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27778" y="3383280"/>
            <a:ext cx="29361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thousands of news articles or documents into themes without being told the topics first.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58277" y="1737360"/>
            <a:ext cx="348477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34906" y="2011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work/icons/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5101" y="220187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41157" y="288036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32597" y="3383280"/>
            <a:ext cx="29361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data points that don't fit any known cluster — often a sign of fraud or a system fault.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 OF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/home/claude/work/icons/tro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94366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64328" cy="3383280"/>
          </a:xfrm>
          <a:prstGeom prst="roundRect">
            <a:avLst>
              <a:gd name="adj" fmla="val 2162"/>
            </a:avLst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92024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Dog Training Analogy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48156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a dog tricks: correct action leads to a reward, wrong action gets no reward. Computers learn similarly — through trial and feedback.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4206240"/>
            <a:ext cx="48156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Game-playing AI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navigation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78728" y="1691640"/>
            <a:ext cx="5364328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AEC3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57971" y="21488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6553048" y="3337560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Phrase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44488" y="3657600"/>
            <a:ext cx="46328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Learns through rewards and penalties.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 OF 3 · REINFORCEMENT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7864" cy="2834640"/>
          </a:xfrm>
          <a:prstGeom prst="roundRect">
            <a:avLst>
              <a:gd name="adj" fmla="val 2849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1485100" y="2103120"/>
            <a:ext cx="694944" cy="694944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6" name="Image 0" descr="/home/claude/work/icons/user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785" y="2283805"/>
            <a:ext cx="333573" cy="3335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26080"/>
            <a:ext cx="2293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2202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 (e.g. a program controlling a car).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90824" y="1828800"/>
            <a:ext cx="2567864" cy="2834640"/>
          </a:xfrm>
          <a:prstGeom prst="roundRect">
            <a:avLst>
              <a:gd name="adj" fmla="val 2849"/>
            </a:avLst>
          </a:prstGeom>
          <a:solidFill>
            <a:srgbClr val="0B1F3A"/>
          </a:solidFill>
          <a:ln/>
        </p:spPr>
      </p:sp>
      <p:sp>
        <p:nvSpPr>
          <p:cNvPr id="10" name="Shape 7"/>
          <p:cNvSpPr/>
          <p:nvPr/>
        </p:nvSpPr>
        <p:spPr>
          <a:xfrm>
            <a:off x="4327284" y="2103120"/>
            <a:ext cx="694944" cy="694944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11" name="Image 1" descr="/home/claude/work/icons/arrow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69" y="2283805"/>
            <a:ext cx="333573" cy="3335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7984" y="2926080"/>
            <a:ext cx="2293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73704" y="3383280"/>
            <a:ext cx="2202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tries something in its environment.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33008" y="1828800"/>
            <a:ext cx="2567864" cy="2834640"/>
          </a:xfrm>
          <a:prstGeom prst="roundRect">
            <a:avLst>
              <a:gd name="adj" fmla="val 2849"/>
            </a:avLst>
          </a:prstGeom>
          <a:solidFill>
            <a:srgbClr val="0B1F3A"/>
          </a:solidFill>
          <a:ln/>
        </p:spPr>
      </p:sp>
      <p:sp>
        <p:nvSpPr>
          <p:cNvPr id="15" name="Shape 11"/>
          <p:cNvSpPr/>
          <p:nvPr/>
        </p:nvSpPr>
        <p:spPr>
          <a:xfrm>
            <a:off x="7169468" y="2103120"/>
            <a:ext cx="694944" cy="694944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16" name="Image 2" descr="/home/claude/work/icons/troph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0153" y="2283805"/>
            <a:ext cx="333573" cy="3335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70168" y="2926080"/>
            <a:ext cx="2293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/ Penalty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15888" y="3383280"/>
            <a:ext cx="2202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responds with feedback.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075191" y="1828800"/>
            <a:ext cx="2567864" cy="2834640"/>
          </a:xfrm>
          <a:prstGeom prst="roundRect">
            <a:avLst>
              <a:gd name="adj" fmla="val 2849"/>
            </a:avLst>
          </a:prstGeom>
          <a:solidFill>
            <a:srgbClr val="0B1F3A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11651" y="2103120"/>
            <a:ext cx="694944" cy="694944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21" name="Image 3" descr="/home/claude/work/icons/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2337" y="2283805"/>
            <a:ext cx="333573" cy="3335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12351" y="2926080"/>
            <a:ext cx="2293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&amp; Repeat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258071" y="3383280"/>
            <a:ext cx="2202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updates its strategy and tries again.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8640" y="48920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loop repeats thousands or millions of times until the agent consistently chooses actions that earn the highest reward.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 OF 3 · REINFORCEMENT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8477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5269" y="2011680"/>
            <a:ext cx="731520" cy="73152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6" name="Image 0" descr="/home/claude/work/icons/c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464" y="22018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8036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29361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safe driving behavior by being rewarded for smooth, collision-free driving.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53458" y="1737360"/>
            <a:ext cx="348477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30088" y="2011680"/>
            <a:ext cx="731520" cy="73152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11" name="Image 1" descr="/home/claude/work/icons/troph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283" y="220187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36338" y="288036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Game-Playing AI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27778" y="3383280"/>
            <a:ext cx="29361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winning strategies in chess or video games through millions of practice rounds.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58277" y="1737360"/>
            <a:ext cx="348477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34906" y="2011680"/>
            <a:ext cx="731520" cy="73152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16" name="Image 2" descr="/home/claude/work/icons/rand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5101" y="220187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41157" y="2880360"/>
            <a:ext cx="31190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Navigation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32597" y="3383280"/>
            <a:ext cx="29361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to move through a warehouse efficiently, rewarded for reaching goals without collisions.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291840" cy="658368"/>
          </a:xfrm>
          <a:prstGeom prst="rect">
            <a:avLst/>
          </a:prstGeom>
          <a:solidFill>
            <a:srgbClr val="0B1F3A"/>
          </a:solidFill>
          <a:ln w="6350">
            <a:solidFill>
              <a:srgbClr val="AEC3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60020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0" y="1600200"/>
            <a:ext cx="2651760" cy="658368"/>
          </a:xfrm>
          <a:prstGeom prst="rect">
            <a:avLst/>
          </a:prstGeom>
          <a:solidFill>
            <a:srgbClr val="0B1F3A"/>
          </a:solidFill>
          <a:ln w="6350">
            <a:solidFill>
              <a:srgbClr val="AEC3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77640" y="16002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1600200"/>
            <a:ext cx="2651760" cy="658368"/>
          </a:xfrm>
          <a:prstGeom prst="rect">
            <a:avLst/>
          </a:prstGeom>
          <a:solidFill>
            <a:srgbClr val="0B1F3A"/>
          </a:solidFill>
          <a:ln w="6350">
            <a:solidFill>
              <a:srgbClr val="AEC3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6002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0" y="1600200"/>
            <a:ext cx="2499055" cy="658368"/>
          </a:xfrm>
          <a:prstGeom prst="rect">
            <a:avLst/>
          </a:prstGeom>
          <a:solidFill>
            <a:srgbClr val="0B1F3A"/>
          </a:solidFill>
          <a:ln w="6350">
            <a:solidFill>
              <a:srgbClr val="AEC3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600200"/>
            <a:ext cx="22247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258568"/>
            <a:ext cx="3291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AEC3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58568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Correct Answers?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40480" y="2258568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AEC3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225856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2258568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AEC3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25856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0" y="2258568"/>
            <a:ext cx="2499055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AEC3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0" y="2258568"/>
            <a:ext cx="22247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2916936"/>
            <a:ext cx="3291840" cy="658368"/>
          </a:xfrm>
          <a:prstGeom prst="rect">
            <a:avLst/>
          </a:prstGeom>
          <a:solidFill>
            <a:srgbClr val="F5F9FC"/>
          </a:solidFill>
          <a:ln w="6350">
            <a:solidFill>
              <a:srgbClr val="AEC3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916936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840480" y="2916936"/>
            <a:ext cx="2651760" cy="658368"/>
          </a:xfrm>
          <a:prstGeom prst="rect">
            <a:avLst/>
          </a:prstGeom>
          <a:solidFill>
            <a:srgbClr val="F5F9FC"/>
          </a:solidFill>
          <a:ln w="6350">
            <a:solidFill>
              <a:srgbClr val="AEC3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291693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Data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2916936"/>
            <a:ext cx="2651760" cy="658368"/>
          </a:xfrm>
          <a:prstGeom prst="rect">
            <a:avLst/>
          </a:prstGeom>
          <a:solidFill>
            <a:srgbClr val="F5F9FC"/>
          </a:solidFill>
          <a:ln w="6350">
            <a:solidFill>
              <a:srgbClr val="AEC3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91693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Unlabeled Data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144000" y="2916936"/>
            <a:ext cx="2499055" cy="658368"/>
          </a:xfrm>
          <a:prstGeom prst="rect">
            <a:avLst/>
          </a:prstGeom>
          <a:solidFill>
            <a:srgbClr val="F5F9FC"/>
          </a:solidFill>
          <a:ln w="6350">
            <a:solidFill>
              <a:srgbClr val="AEC3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1160" y="2916936"/>
            <a:ext cx="22247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3575304"/>
            <a:ext cx="3291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AEC3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575304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840480" y="3575304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AEC3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77640" y="357530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92240" y="3575304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AEC3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357530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144000" y="3575304"/>
            <a:ext cx="2499055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AEC3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81160" y="3575304"/>
            <a:ext cx="22247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Decision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4233672"/>
            <a:ext cx="3291840" cy="658368"/>
          </a:xfrm>
          <a:prstGeom prst="rect">
            <a:avLst/>
          </a:prstGeom>
          <a:solidFill>
            <a:srgbClr val="F5F9FC"/>
          </a:solidFill>
          <a:ln w="6350">
            <a:solidFill>
              <a:srgbClr val="AEC3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23367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840480" y="4233672"/>
            <a:ext cx="2651760" cy="658368"/>
          </a:xfrm>
          <a:prstGeom prst="rect">
            <a:avLst/>
          </a:prstGeom>
          <a:solidFill>
            <a:srgbClr val="F5F9FC"/>
          </a:solidFill>
          <a:ln w="6350">
            <a:solidFill>
              <a:srgbClr val="AEC3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77640" y="423367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92240" y="4233672"/>
            <a:ext cx="2651760" cy="658368"/>
          </a:xfrm>
          <a:prstGeom prst="rect">
            <a:avLst/>
          </a:prstGeom>
          <a:solidFill>
            <a:srgbClr val="F5F9FC"/>
          </a:solidFill>
          <a:ln w="6350">
            <a:solidFill>
              <a:srgbClr val="AEC3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423367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Groups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9144000" y="4233672"/>
            <a:ext cx="2499055" cy="658368"/>
          </a:xfrm>
          <a:prstGeom prst="rect">
            <a:avLst/>
          </a:prstGeom>
          <a:solidFill>
            <a:srgbClr val="F5F9FC"/>
          </a:solidFill>
          <a:ln w="6350">
            <a:solidFill>
              <a:srgbClr val="AEC3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81160" y="4233672"/>
            <a:ext cx="22247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AI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Model Training — Key Terms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567864" cy="2194560"/>
          </a:xfrm>
          <a:prstGeom prst="roundRect">
            <a:avLst>
              <a:gd name="adj" fmla="val 3333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100" y="19659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work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785" y="2146645"/>
            <a:ext cx="333573" cy="3335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788920"/>
            <a:ext cx="2384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3200400"/>
            <a:ext cx="2293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examples.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90824" y="1737360"/>
            <a:ext cx="2567864" cy="2194560"/>
          </a:xfrm>
          <a:prstGeom prst="roundRect">
            <a:avLst>
              <a:gd name="adj" fmla="val 3333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27284" y="19659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work/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69" y="2146645"/>
            <a:ext cx="333573" cy="3335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82264" y="2788920"/>
            <a:ext cx="2384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527984" y="3200400"/>
            <a:ext cx="2293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after learning.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33008" y="1737360"/>
            <a:ext cx="2567864" cy="2194560"/>
          </a:xfrm>
          <a:prstGeom prst="roundRect">
            <a:avLst>
              <a:gd name="adj" fmla="val 3333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69468" y="19659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work/icons/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0153" y="2146645"/>
            <a:ext cx="333573" cy="3335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24448" y="2788920"/>
            <a:ext cx="2384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370168" y="3200400"/>
            <a:ext cx="2293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process.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9075191" y="1737360"/>
            <a:ext cx="2567864" cy="2194560"/>
          </a:xfrm>
          <a:prstGeom prst="roundRect">
            <a:avLst>
              <a:gd name="adj" fmla="val 3333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011651" y="19659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/home/claude/work/icons/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2337" y="2146645"/>
            <a:ext cx="333573" cy="33357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66631" y="2788920"/>
            <a:ext cx="2384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9212351" y="3200400"/>
            <a:ext cx="2293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what was learned.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48640" y="4251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4617720"/>
            <a:ext cx="2087804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25" name="Text 19"/>
          <p:cNvSpPr/>
          <p:nvPr/>
        </p:nvSpPr>
        <p:spPr>
          <a:xfrm>
            <a:off x="548640" y="4617720"/>
            <a:ext cx="20878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2636444" y="46177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3550844" y="4617720"/>
            <a:ext cx="2087804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28" name="Text 22"/>
          <p:cNvSpPr/>
          <p:nvPr/>
        </p:nvSpPr>
        <p:spPr>
          <a:xfrm>
            <a:off x="3550844" y="4617720"/>
            <a:ext cx="20878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638648" y="46177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6553048" y="4617720"/>
            <a:ext cx="2087804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31" name="Text 25"/>
          <p:cNvSpPr/>
          <p:nvPr/>
        </p:nvSpPr>
        <p:spPr>
          <a:xfrm>
            <a:off x="6553048" y="4617720"/>
            <a:ext cx="20878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8640851" y="46177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9555251" y="4617720"/>
            <a:ext cx="2087804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34" name="Text 28"/>
          <p:cNvSpPr/>
          <p:nvPr/>
        </p:nvSpPr>
        <p:spPr>
          <a:xfrm>
            <a:off x="9555251" y="4617720"/>
            <a:ext cx="20878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Data vs Testing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is usually split into two parts so we can check if the model really learned.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64328" cy="3017520"/>
          </a:xfrm>
          <a:prstGeom prst="roundRect">
            <a:avLst>
              <a:gd name="adj" fmla="val 2424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ork/icons/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2238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48840"/>
            <a:ext cx="408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481568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70–80% of the dataset. The model studies this data and adjusts itself to fit the patterns it finds.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78728" y="1828800"/>
            <a:ext cx="5364328" cy="3017520"/>
          </a:xfrm>
          <a:prstGeom prst="roundRect">
            <a:avLst>
              <a:gd name="adj" fmla="val 2424"/>
            </a:avLst>
          </a:prstGeom>
          <a:solidFill>
            <a:srgbClr val="0B1F3A"/>
          </a:solidFill>
          <a:ln/>
        </p:spPr>
      </p:sp>
      <p:sp>
        <p:nvSpPr>
          <p:cNvPr id="10" name="Shape 7"/>
          <p:cNvSpPr/>
          <p:nvPr/>
        </p:nvSpPr>
        <p:spPr>
          <a:xfrm>
            <a:off x="6553048" y="2057400"/>
            <a:ext cx="640080" cy="64008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11" name="Image 1" descr="/home/claude/work/icons/bra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468" y="22238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30288" y="2148840"/>
            <a:ext cx="408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Data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53048" y="2880360"/>
            <a:ext cx="481568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20–30%, kept hidden during training. It checks whether the model can handle new, unseen examples — not just memorize old ones.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3" name="Image 0" descr="/home/claude/work/icons/penc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657454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Activity: Individual Application &amp; Sharing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– Application – Reflection (EAR) framework · individual work, then volunteers share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4440" y="1920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your own — this is an individual activity, not a group task.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26243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25786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scenario on the next slide and decide which type of learning applies.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48640" y="32826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34440" y="3236976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 justification (2 to 3 sentences) explaining your reasoning.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8640" y="394106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34440" y="389534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to share one answer out loud when called — this is how you apply and explain what you learned.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It: Which Type of Learning?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1554480"/>
          </a:xfrm>
          <a:prstGeom prst="roundRect">
            <a:avLst>
              <a:gd name="adj" fmla="val 4118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39964" y="164592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work/icons/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120" y="1798076"/>
            <a:ext cx="280904" cy="280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23849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recommending movies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390824" y="1463040"/>
            <a:ext cx="2567864" cy="1554480"/>
          </a:xfrm>
          <a:prstGeom prst="roundRect">
            <a:avLst>
              <a:gd name="adj" fmla="val 4118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82148" y="164592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work/icons/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304" y="1798076"/>
            <a:ext cx="280904" cy="2809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82264" y="2331720"/>
            <a:ext cx="23849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Photos organizing faces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233008" y="1463040"/>
            <a:ext cx="2567864" cy="1554480"/>
          </a:xfrm>
          <a:prstGeom prst="roundRect">
            <a:avLst>
              <a:gd name="adj" fmla="val 4118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224332" y="164592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work/icons/c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6488" y="1798076"/>
            <a:ext cx="280904" cy="2809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24448" y="2331720"/>
            <a:ext cx="23849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vacuum avoiding walls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9075191" y="1463040"/>
            <a:ext cx="2567864" cy="1554480"/>
          </a:xfrm>
          <a:prstGeom prst="roundRect">
            <a:avLst>
              <a:gd name="adj" fmla="val 4118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0066515" y="164592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/home/claude/work/icons/check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8671" y="1798076"/>
            <a:ext cx="280904" cy="2809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66631" y="2331720"/>
            <a:ext cx="23849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 system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548640" y="3200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scenario: name the type, then justify it in 2–3 sentences.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365760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21" name="Shape 15"/>
          <p:cNvSpPr/>
          <p:nvPr/>
        </p:nvSpPr>
        <p:spPr>
          <a:xfrm>
            <a:off x="822960" y="3886200"/>
            <a:ext cx="685800" cy="68580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22" name="Image 4" descr="/home/claude/work/icons/comm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268" y="4064508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91640" y="3886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Prompt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691640" y="4224528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scenario was hardest to classify, and what made it tricky?” Add this one sentence at the end of your answer sheet.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work/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64556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Quiz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· rapid-fire, oral or individual seatwork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364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19385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25880" y="1737360"/>
            <a:ext cx="4404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Machine Learning.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737360"/>
            <a:ext cx="5364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3320" y="19385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644332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055968" y="1737360"/>
            <a:ext cx="4404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data important?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2788920"/>
            <a:ext cx="5364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29900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25880" y="2788920"/>
            <a:ext cx="4404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labeled data?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78728" y="2788920"/>
            <a:ext cx="5364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43320" y="29900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7"/>
          <p:cNvSpPr/>
          <p:nvPr/>
        </p:nvSpPr>
        <p:spPr>
          <a:xfrm>
            <a:off x="6443320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055968" y="2788920"/>
            <a:ext cx="4404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supervised and unsupervised learning.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3840480"/>
            <a:ext cx="5364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3232" y="40416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713232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325880" y="3840480"/>
            <a:ext cx="4404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learning approach uses rewards?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78728" y="3840480"/>
            <a:ext cx="5364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43320" y="40416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5"/>
          <p:cNvSpPr/>
          <p:nvPr/>
        </p:nvSpPr>
        <p:spPr>
          <a:xfrm>
            <a:off x="6443320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055968" y="3840480"/>
            <a:ext cx="44042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real-world example of reinforcement learning.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3" name="Image 0" descr="/home/claude/work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657454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Output: Design Your First AI System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· 2–3 page concept paper · submit as a Word (.docx) or PDF file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828800"/>
            <a:ext cx="1054577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Apply the concepts of Machine Learning by designing a simple AI solution to a real-world problem.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real-world problem: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520440"/>
            <a:ext cx="2602154" cy="502920"/>
          </a:xfrm>
          <a:prstGeom prst="roundRect">
            <a:avLst>
              <a:gd name="adj" fmla="val 49091"/>
            </a:avLst>
          </a:prstGeom>
          <a:solidFill>
            <a:srgbClr val="1B2B44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" y="3520440"/>
            <a:ext cx="24558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spam emails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79394" y="3520440"/>
            <a:ext cx="2602154" cy="502920"/>
          </a:xfrm>
          <a:prstGeom prst="roundRect">
            <a:avLst>
              <a:gd name="adj" fmla="val 49091"/>
            </a:avLst>
          </a:prstGeom>
          <a:solidFill>
            <a:srgbClr val="1B2B44"/>
          </a:solidFill>
          <a:ln/>
        </p:spPr>
      </p:sp>
      <p:sp>
        <p:nvSpPr>
          <p:cNvPr id="12" name="Text 9"/>
          <p:cNvSpPr/>
          <p:nvPr/>
        </p:nvSpPr>
        <p:spPr>
          <a:xfrm>
            <a:off x="3452546" y="3520440"/>
            <a:ext cx="24558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student absenteeism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10148" y="3520440"/>
            <a:ext cx="2602154" cy="502920"/>
          </a:xfrm>
          <a:prstGeom prst="roundRect">
            <a:avLst>
              <a:gd name="adj" fmla="val 49091"/>
            </a:avLst>
          </a:prstGeom>
          <a:solidFill>
            <a:srgbClr val="1B2B44"/>
          </a:solidFill>
          <a:ln/>
        </p:spPr>
      </p:sp>
      <p:sp>
        <p:nvSpPr>
          <p:cNvPr id="14" name="Text 11"/>
          <p:cNvSpPr/>
          <p:nvPr/>
        </p:nvSpPr>
        <p:spPr>
          <a:xfrm>
            <a:off x="6283300" y="3520440"/>
            <a:ext cx="24558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photos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040901" y="3520440"/>
            <a:ext cx="2602154" cy="502920"/>
          </a:xfrm>
          <a:prstGeom prst="roundRect">
            <a:avLst>
              <a:gd name="adj" fmla="val 49091"/>
            </a:avLst>
          </a:prstGeom>
          <a:solidFill>
            <a:srgbClr val="1B2B44"/>
          </a:solidFill>
          <a:ln/>
        </p:spPr>
      </p:sp>
      <p:sp>
        <p:nvSpPr>
          <p:cNvPr id="16" name="Text 13"/>
          <p:cNvSpPr/>
          <p:nvPr/>
        </p:nvSpPr>
        <p:spPr>
          <a:xfrm>
            <a:off x="9114053" y="3520440"/>
            <a:ext cx="24558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library books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4114800"/>
            <a:ext cx="2602154" cy="502920"/>
          </a:xfrm>
          <a:prstGeom prst="roundRect">
            <a:avLst>
              <a:gd name="adj" fmla="val 49091"/>
            </a:avLst>
          </a:prstGeom>
          <a:solidFill>
            <a:srgbClr val="1B2B44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" y="4114800"/>
            <a:ext cx="24558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recyclable waste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379394" y="4114800"/>
            <a:ext cx="2602154" cy="502920"/>
          </a:xfrm>
          <a:prstGeom prst="roundRect">
            <a:avLst>
              <a:gd name="adj" fmla="val 49091"/>
            </a:avLst>
          </a:prstGeom>
          <a:solidFill>
            <a:srgbClr val="1B2B44"/>
          </a:solidFill>
          <a:ln/>
        </p:spPr>
      </p:sp>
      <p:sp>
        <p:nvSpPr>
          <p:cNvPr id="20" name="Text 17"/>
          <p:cNvSpPr/>
          <p:nvPr/>
        </p:nvSpPr>
        <p:spPr>
          <a:xfrm>
            <a:off x="3452546" y="4114800"/>
            <a:ext cx="24558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Suggesting study materials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210148" y="4114800"/>
            <a:ext cx="2602154" cy="502920"/>
          </a:xfrm>
          <a:prstGeom prst="roundRect">
            <a:avLst>
              <a:gd name="adj" fmla="val 49091"/>
            </a:avLst>
          </a:prstGeom>
          <a:solidFill>
            <a:srgbClr val="1B2B44"/>
          </a:solidFill>
          <a:ln/>
        </p:spPr>
      </p:sp>
      <p:sp>
        <p:nvSpPr>
          <p:cNvPr id="22" name="Text 19"/>
          <p:cNvSpPr/>
          <p:nvPr/>
        </p:nvSpPr>
        <p:spPr>
          <a:xfrm>
            <a:off x="6283300" y="4114800"/>
            <a:ext cx="24558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customer feedback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864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...or another problem approved by your instructor.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Paper 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1920240"/>
          </a:xfrm>
          <a:prstGeom prst="roundRect">
            <a:avLst>
              <a:gd name="adj" fmla="val 3333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work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67" y="177667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27632"/>
            <a:ext cx="25094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49808" y="2240280"/>
            <a:ext cx="311292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Description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651760"/>
            <a:ext cx="311292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problem and why it matters.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38218" y="1463040"/>
            <a:ext cx="3515258" cy="1920240"/>
          </a:xfrm>
          <a:prstGeom prst="roundRect">
            <a:avLst>
              <a:gd name="adj" fmla="val 3333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39386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work/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146" y="177667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1178" y="1627632"/>
            <a:ext cx="25094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39386" y="2240280"/>
            <a:ext cx="311292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AI Solution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39386" y="2651760"/>
            <a:ext cx="311292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it do? Who would use it?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27797" y="1463040"/>
            <a:ext cx="3515258" cy="1920240"/>
          </a:xfrm>
          <a:prstGeom prst="roundRect">
            <a:avLst>
              <a:gd name="adj" fmla="val 3333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8965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work/icons/bra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724" y="1776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50757" y="1627632"/>
            <a:ext cx="25094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8328965" y="2240280"/>
            <a:ext cx="311292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Type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328965" y="2651760"/>
            <a:ext cx="311292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Unsupervised, or Reinforcement — and why.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" y="3611880"/>
            <a:ext cx="3515258" cy="1920240"/>
          </a:xfrm>
          <a:prstGeom prst="roundRect">
            <a:avLst>
              <a:gd name="adj" fmla="val 3333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9808" y="3794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/home/claude/work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567" y="392551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3776472"/>
            <a:ext cx="25094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749808" y="4389120"/>
            <a:ext cx="311292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Requirements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49808" y="4800600"/>
            <a:ext cx="311292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data, from where, and why it matters.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338218" y="3611880"/>
            <a:ext cx="3515258" cy="1920240"/>
          </a:xfrm>
          <a:prstGeom prst="roundRect">
            <a:avLst>
              <a:gd name="adj" fmla="val 3333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39386" y="3794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4" descr="/home/claude/work/icons/chart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0146" y="3925519"/>
            <a:ext cx="241402" cy="24140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161178" y="3776472"/>
            <a:ext cx="25094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539386" y="4389120"/>
            <a:ext cx="311292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4539386" y="4800600"/>
            <a:ext cx="311292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should produce after training.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8127797" y="3611880"/>
            <a:ext cx="3515258" cy="1920240"/>
          </a:xfrm>
          <a:prstGeom prst="roundRect">
            <a:avLst>
              <a:gd name="adj" fmla="val 3333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328965" y="3794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5" name="Image 5" descr="/home/claude/work/icons/penci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9724" y="3925519"/>
            <a:ext cx="241402" cy="24140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950757" y="3776472"/>
            <a:ext cx="25094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8328965" y="4389120"/>
            <a:ext cx="311292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(250–300 words)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8328965" y="4800600"/>
            <a:ext cx="311292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collecting data and training the system.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Guidelines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6432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5564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work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1898294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37360"/>
            <a:ext cx="4267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490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pages, 12pt font, 1.5 line spacing. Save as .docx or .pdf only.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78728" y="1554480"/>
            <a:ext cx="536432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07328" y="175564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work/icons/usergr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974" y="1898294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93128" y="1737360"/>
            <a:ext cx="4267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Work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507328" y="2331720"/>
            <a:ext cx="490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solo submission. Each student designs and writes their own concept paper.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246120"/>
            <a:ext cx="536432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344728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work/icons/uplo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3589934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429000"/>
            <a:ext cx="4267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Submit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777240" y="4023360"/>
            <a:ext cx="490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through the class portal or send to your instructor's email before the deadline.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278728" y="3246120"/>
            <a:ext cx="536432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507328" y="344728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/home/claude/work/icons/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9974" y="3589934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93128" y="3429000"/>
            <a:ext cx="4267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507328" y="4023360"/>
            <a:ext cx="490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at the start of next week's session — check the class calendar for the exact date.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Grading Rubric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points total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566928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14255" y="182880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1094415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Machine Learning approach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14255" y="246888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1094415" cy="566928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0896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identification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814255" y="310896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4415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4904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of AI solution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14255" y="374904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11094415" cy="566928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38912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and presentation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14255" y="438912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3" name="Image 0" descr="/home/claude/work/icons/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64556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146304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lets computers find patterns in data instead of following hand-written rules.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23317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the raw material of AI — its quality and quantity directly shape how well a model performs.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20040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uses labeled data; unsupervised learning finds hidden patterns; reinforcement learning learns through rewards.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411480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406908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is split into training data (to learn from) and testing data (to check what was learned).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498348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493776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learning type for a problem is the first real design decision an AI builder makes.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Ahead: Week 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F5F9FC"/>
          </a:solidFill>
          <a:ln w="9525">
            <a:solidFill>
              <a:srgbClr val="AEC3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1054577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we learned that Machine Learning enables computers to learn from data — mostly focused on numbers, patterns, and decisions.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1094415" cy="1920240"/>
          </a:xfrm>
          <a:prstGeom prst="roundRect">
            <a:avLst>
              <a:gd name="adj" fmla="val 3810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200400"/>
            <a:ext cx="777240" cy="77724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7" name="Image 0" descr="/home/claude/work/icons/arrow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340248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3154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Natural Language Processing (NLP)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920240" y="3657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discover how AI learns to understand, interpret, and generate human language — and why ChatGPT, Google Translate, and virtual assistants are possible.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3023</Words>
  <Application>Microsoft Office PowerPoint</Application>
  <PresentationFormat>Widescreen</PresentationFormat>
  <Paragraphs>569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 laurence Enarin</cp:lastModifiedBy>
  <cp:revision>10</cp:revision>
  <dcterms:created xsi:type="dcterms:W3CDTF">2026-08-16T10:18:48Z</dcterms:created>
  <dcterms:modified xsi:type="dcterms:W3CDTF">2026-08-25T04:21:47Z</dcterms:modified>
</cp:coreProperties>
</file>