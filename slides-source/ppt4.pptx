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002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13233A"/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13233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7772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NATURAL LANGUAGE PROCESSING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10058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AI Understands</a:t>
            </a:r>
            <a:endParaRPr lang="en-US" sz="46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Language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777240" y="43434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 ChatGPT finally makes sense: how AI reads, interprets, and generates human language.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FITS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Anchor for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B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920240" y="2240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LEARNING OUTCOME · CLO1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2606040"/>
            <a:ext cx="9052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7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basic concepts, scope, and evolution of Artificial Intelligence.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4206240"/>
            <a:ext cx="10881360" cy="2011680"/>
          </a:xfrm>
          <a:prstGeom prst="roundRect">
            <a:avLst>
              <a:gd name="adj" fmla="val 5455"/>
            </a:avLst>
          </a:prstGeom>
          <a:solidFill>
            <a:srgbClr val="0B1F3A"/>
          </a:solidFill>
          <a:ln/>
          <a:effectLst>
            <a:outerShdw blurRad="101600" dist="38100" dir="5400000" algn="bl" rotWithShape="0">
              <a:srgbClr val="1B2B4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4572000"/>
            <a:ext cx="640080" cy="64008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572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92024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GOAL FOR TODAY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4892040"/>
            <a:ext cx="9052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AI process, understand, and generate human language — and what practical problems does NLP help solve?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Lesson, You Will Be Able To: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29384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293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83080" y="1783080"/>
            <a:ext cx="9509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Natural Language Processing (NLP)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0120" y="2889504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8895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83080" y="2743200"/>
            <a:ext cx="9509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computers process human language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60120" y="3849624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8496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83080" y="3703320"/>
            <a:ext cx="9509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human language from computer language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40080" y="46634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0120" y="4809744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8097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783080" y="4663440"/>
            <a:ext cx="9509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real-world applications of NLP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640080" y="562356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60120" y="5769864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57698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783080" y="5623560"/>
            <a:ext cx="9509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strengths and limitations of NLP systems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3-Hour Session, Step by Step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minutes total  ·  includes one 15-minute break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78308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Review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1783080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60604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Icebreaker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2606040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42900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342900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NLP?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3429000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425196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Language Is Hard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4251960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07492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507492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NLP Works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5074920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89788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2FE6C4"/>
          </a:solidFill>
          <a:ln/>
          <a:effectLst>
            <a:outerShdw blurRad="635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589788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BREAK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5897880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55080" y="178308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83680" y="178308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Applications Showcase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287000" y="1783080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55080" y="260604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83680" y="260604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Multimedia Comprehension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287000" y="2606040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55080" y="342900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83680" y="342900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Apply &amp; Share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287000" y="3429000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55080" y="425196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83680" y="425196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Quiz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287000" y="4251960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355080" y="507492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83680" y="507492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Output Briefing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287000" y="5074920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355080" y="589788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583680" y="589788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Looking Ahead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287000" y="5897880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REVIEW — WEEK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We Move Forward...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173736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Machine Learning?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40080" y="24963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96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450592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three learning approaches?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40080" y="320954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095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3163824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data important?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40080" y="392277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227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38770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learning approach would ChatGPT likely use?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5074920"/>
            <a:ext cx="10149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“Last week AI learned from data. Today we'll discover how AI learns something even more difficult — human language.”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ICEBREAKER · 10 MINUTES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10058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These Sentences Really Mean?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103120"/>
            <a:ext cx="10607040" cy="960120"/>
          </a:xfrm>
          <a:prstGeom prst="roundRect">
            <a:avLst>
              <a:gd name="adj" fmla="val 9524"/>
            </a:avLst>
          </a:prstGeom>
          <a:solidFill>
            <a:srgbClr val="13233A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103120"/>
            <a:ext cx="10058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FE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saw the man with the telescope.”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3291840"/>
            <a:ext cx="10607040" cy="960120"/>
          </a:xfrm>
          <a:prstGeom prst="roundRect">
            <a:avLst>
              <a:gd name="adj" fmla="val 9524"/>
            </a:avLst>
          </a:prstGeom>
          <a:solidFill>
            <a:srgbClr val="13233A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291840"/>
            <a:ext cx="10058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FE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never said she stole my money.”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470916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meanings can these sentences have?</a:t>
            </a:r>
            <a:endParaRPr lang="en-US" sz="16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 easy for humans but difficult for computers?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Natural Language Processing?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49240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B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3317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32004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 is a branch of 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79476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is the branch of Artificial Intelligence that enables computers to understand, interpret, analyze, and generate human language.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17920" y="1965960"/>
            <a:ext cx="5349240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B4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3317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83680" y="32004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replaces code with conversation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379476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lets humans communicate with computers using everyday language — instead of programming languages.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THE DOTS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Each Week Builds on the Last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2900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377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971800"/>
            <a:ext cx="2834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is a branch of AI.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069080" y="32918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43400" y="2103120"/>
            <a:ext cx="342900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2377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63440" y="2971800"/>
            <a:ext cx="2834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learns from data.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772400" y="32918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8046720" y="2103120"/>
            <a:ext cx="3429000" cy="3017520"/>
          </a:xfrm>
          <a:prstGeom prst="roundRect">
            <a:avLst>
              <a:gd name="adj" fmla="val 4242"/>
            </a:avLst>
          </a:prstGeom>
          <a:solidFill>
            <a:srgbClr val="0B1F3A"/>
          </a:solidFill>
          <a:ln/>
          <a:effectLst>
            <a:outerShdw blurRad="762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66760" y="2377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E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66760" y="2971800"/>
            <a:ext cx="2834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uses Machine Learning to understand language.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0080" y="5394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begin seeing how the topics connect.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114800" cy="4114800"/>
          </a:xfrm>
          <a:prstGeom prst="ellipse">
            <a:avLst/>
          </a:prstGeom>
          <a:solidFill>
            <a:srgbClr val="13233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468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LANGUAGE IS HARD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28346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Reasons Human Language</a:t>
            </a:r>
            <a:endParaRPr lang="en-US" sz="38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Confuses Computers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4297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that feels effortless to us hides layers of ambiguity, context, and change.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 OF 4 · WHY LANGUAGE IS DIFFICULT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93268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Meanings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10881360" cy="2468880"/>
          </a:xfrm>
          <a:prstGeom prst="roundRect">
            <a:avLst>
              <a:gd name="adj" fmla="val 5185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2860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FE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went to the bank.”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River bank?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4290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Bank account?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 OF 4 · WHY LANGUAGE IS DIFFICULT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93268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10881360" cy="2468880"/>
          </a:xfrm>
          <a:prstGeom prst="roundRect">
            <a:avLst>
              <a:gd name="adj" fmla="val 5185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2860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FE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“It's cold.”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Close the window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4290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Turn on the heater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3931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Wear a jacket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4800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infer context naturally. Computers must learn it.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3 OF 4 · WHY LANGUAGE IS DIFFICULT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93268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Slang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10881360" cy="2651760"/>
          </a:xfrm>
          <a:prstGeom prst="roundRect">
            <a:avLst>
              <a:gd name="adj" fmla="val 4828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8600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FE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“That's fire”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89320" y="228600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FE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“I'm dead”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FE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“Bet”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89320" y="33375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FE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“No cap”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4983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Slang changes over time — which makes NLP especially difficult.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4 OF 4 · WHY LANGUAGE IS DIFFICULT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93268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10881360" cy="1463040"/>
          </a:xfrm>
          <a:prstGeom prst="roundRect">
            <a:avLst>
              <a:gd name="adj" fmla="val 8750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2860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FE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“Let's eat, Grandma.”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28346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FE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“Let's eat Grandma.”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punctuation mark completely changes the meaning.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Building Blocks of NLP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NLP application you'll see today is built from a mix of these core tasks.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0215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2402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Tokenization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3264408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text into words or pieces the model can work with.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25112" y="1965960"/>
            <a:ext cx="350215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9432" y="22402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9432" y="28346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Part-of-Speech Tagging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99432" y="3264408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 each word as a noun, verb, adjective, etc.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10144" y="1965960"/>
            <a:ext cx="350215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4464" y="22402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284464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84464" y="28346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Entity Recognition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84464" y="3264408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names of people, places, dates, and organizations.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114800"/>
            <a:ext cx="350215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43891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9834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Analysis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14400" y="5413248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whether text is positive, negative, or neutral.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25112" y="4114800"/>
            <a:ext cx="350215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99432" y="4389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4599432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99432" y="49834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Translation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599432" y="5413248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text from one language to another.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10144" y="4114800"/>
            <a:ext cx="350215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84464" y="43891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8284464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84464" y="49834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Generation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284464" y="5413248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Producing new, human-like sentences in response to input.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NLP WORKS · SIMPLIFIED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Sentence to a Response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process becomes possible because of Machine Learning — which you learned last week.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892808" cy="2194560"/>
          </a:xfrm>
          <a:prstGeom prst="roundRect">
            <a:avLst>
              <a:gd name="adj" fmla="val 5797"/>
            </a:avLst>
          </a:prstGeom>
          <a:solidFill>
            <a:srgbClr val="0B1F3A"/>
          </a:solidFill>
          <a:ln/>
        </p:spPr>
      </p:sp>
      <p:sp>
        <p:nvSpPr>
          <p:cNvPr id="6" name="Shape 4"/>
          <p:cNvSpPr/>
          <p:nvPr/>
        </p:nvSpPr>
        <p:spPr>
          <a:xfrm>
            <a:off x="1266444" y="2514600"/>
            <a:ext cx="640080" cy="64008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7" name="Text 5"/>
          <p:cNvSpPr/>
          <p:nvPr/>
        </p:nvSpPr>
        <p:spPr>
          <a:xfrm>
            <a:off x="1266444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17099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3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487168" y="29260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670048" y="2286000"/>
            <a:ext cx="1892808" cy="2194560"/>
          </a:xfrm>
          <a:prstGeom prst="roundRect">
            <a:avLst>
              <a:gd name="adj" fmla="val 5797"/>
            </a:avLst>
          </a:prstGeom>
          <a:solidFill>
            <a:srgbClr val="0B1F3A"/>
          </a:solidFill>
          <a:ln/>
        </p:spPr>
      </p:sp>
      <p:sp>
        <p:nvSpPr>
          <p:cNvPr id="11" name="Shape 9"/>
          <p:cNvSpPr/>
          <p:nvPr/>
        </p:nvSpPr>
        <p:spPr>
          <a:xfrm>
            <a:off x="3296412" y="2514600"/>
            <a:ext cx="640080" cy="64008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2" name="Text 10"/>
          <p:cNvSpPr/>
          <p:nvPr/>
        </p:nvSpPr>
        <p:spPr>
          <a:xfrm>
            <a:off x="3296412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61488" y="3337560"/>
            <a:ext cx="17099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Into</a:t>
            </a:r>
            <a:endParaRPr lang="en-US" sz="13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17136" y="29260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700016" y="2286000"/>
            <a:ext cx="1892808" cy="2194560"/>
          </a:xfrm>
          <a:prstGeom prst="roundRect">
            <a:avLst>
              <a:gd name="adj" fmla="val 5797"/>
            </a:avLst>
          </a:prstGeom>
          <a:solidFill>
            <a:srgbClr val="0B1F3A"/>
          </a:solidFill>
          <a:ln/>
        </p:spPr>
      </p:sp>
      <p:sp>
        <p:nvSpPr>
          <p:cNvPr id="16" name="Shape 14"/>
          <p:cNvSpPr/>
          <p:nvPr/>
        </p:nvSpPr>
        <p:spPr>
          <a:xfrm>
            <a:off x="5326380" y="2514600"/>
            <a:ext cx="640080" cy="64008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7" name="Text 15"/>
          <p:cNvSpPr/>
          <p:nvPr/>
        </p:nvSpPr>
        <p:spPr>
          <a:xfrm>
            <a:off x="5326380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91456" y="3337560"/>
            <a:ext cx="17099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for</a:t>
            </a:r>
            <a:endParaRPr lang="en-US" sz="13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47104" y="29260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729984" y="2286000"/>
            <a:ext cx="1892808" cy="2194560"/>
          </a:xfrm>
          <a:prstGeom prst="roundRect">
            <a:avLst>
              <a:gd name="adj" fmla="val 5797"/>
            </a:avLst>
          </a:prstGeom>
          <a:solidFill>
            <a:srgbClr val="0B1F3A"/>
          </a:solidFill>
          <a:ln/>
        </p:spPr>
      </p:sp>
      <p:sp>
        <p:nvSpPr>
          <p:cNvPr id="21" name="Shape 19"/>
          <p:cNvSpPr/>
          <p:nvPr/>
        </p:nvSpPr>
        <p:spPr>
          <a:xfrm>
            <a:off x="7356348" y="2514600"/>
            <a:ext cx="640080" cy="64008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22" name="Text 20"/>
          <p:cNvSpPr/>
          <p:nvPr/>
        </p:nvSpPr>
        <p:spPr>
          <a:xfrm>
            <a:off x="7356348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821424" y="3337560"/>
            <a:ext cx="17099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</a:t>
            </a:r>
            <a:endParaRPr lang="en-US" sz="13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577072" y="29260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8759952" y="2286000"/>
            <a:ext cx="1892808" cy="2194560"/>
          </a:xfrm>
          <a:prstGeom prst="roundRect">
            <a:avLst>
              <a:gd name="adj" fmla="val 5797"/>
            </a:avLst>
          </a:prstGeom>
          <a:solidFill>
            <a:srgbClr val="0B1F3A"/>
          </a:solidFill>
          <a:ln/>
        </p:spPr>
      </p:sp>
      <p:sp>
        <p:nvSpPr>
          <p:cNvPr id="26" name="Shape 24"/>
          <p:cNvSpPr/>
          <p:nvPr/>
        </p:nvSpPr>
        <p:spPr>
          <a:xfrm>
            <a:off x="9386316" y="2514600"/>
            <a:ext cx="640080" cy="64008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27" name="Text 25"/>
          <p:cNvSpPr/>
          <p:nvPr/>
        </p:nvSpPr>
        <p:spPr>
          <a:xfrm>
            <a:off x="9386316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851392" y="3337560"/>
            <a:ext cx="17099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</a:t>
            </a:r>
            <a:endParaRPr lang="en-US" sz="13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DEEP DIVE · PART 1 OF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Words Into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737360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FE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sentence:  "I love pizza."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5349240" cy="310896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33375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91640" y="33375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Human Writes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4114800"/>
            <a:ext cx="4709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types or speaks a sentence in everyday language, with no special formatting or code.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217920" y="3017520"/>
            <a:ext cx="5349240" cy="310896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37960" y="33375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69480" y="33375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Breaks Into Words (Tokenization)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4114800"/>
            <a:ext cx="4709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sentence is split into pieces the model can process: ["I", "love", "pizza"]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DEEP DIVE · PART 2 OF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Meaning to a Reply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02152" cy="4297680"/>
          </a:xfrm>
          <a:prstGeom prst="roundRect">
            <a:avLst>
              <a:gd name="adj" fmla="val 365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Looks for Meaning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connects words to concepts it has learned — "pizza" is food, "love" signals a positive feeling.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5112" y="1783080"/>
            <a:ext cx="3502152" cy="4297680"/>
          </a:xfrm>
          <a:prstGeom prst="roundRect">
            <a:avLst>
              <a:gd name="adj" fmla="val 365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20574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99432" y="27432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— Understands Context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9432" y="356616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considers the whole sentence together, not just isolated words, to avoid misreading intent.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10144" y="1783080"/>
            <a:ext cx="3502152" cy="4297680"/>
          </a:xfrm>
          <a:prstGeom prst="roundRect">
            <a:avLst>
              <a:gd name="adj" fmla="val 365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84464" y="20574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284464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84464" y="27432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 — Produces a Response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84464" y="356616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generates a natural reply, e.g. "That's great! What's your favorite topping?"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114800" cy="4114800"/>
          </a:xfrm>
          <a:prstGeom prst="ellipse">
            <a:avLst/>
          </a:prstGeom>
          <a:solidFill>
            <a:srgbClr val="13233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468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APPLICATIONS · 35 MINUTES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28346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Ways You Already Use</a:t>
            </a:r>
            <a:endParaRPr lang="en-US" sz="38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 Every Day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4297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translation to chatbots — the tools you already know, explained through what you just learned.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APPLICATION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8686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Translate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7452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translates by understanding meaning and context — not just swapping words one-for-one.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10881360" cy="315468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3246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36118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it know the correct meaning instead of translating word-for-word?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434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8006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Demonstration: translate a full paragraph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523036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Notice how word order and idioms change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5660136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Grammar adjusts automatically between languages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APPLICATION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8686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7452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uses NLP to generate human-like responses, adapting tone and complexity to its audience.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10881360" cy="315468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3246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36118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next lesson, we'll learn how prompts influence these responses.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434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8006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Prompt: “Explain photosynthesis to a Grade 4 student.”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523036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Then: “Explain photosynthesis to a biology professor.”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5660136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Notice how vocabulary and depth change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APPLICATION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8686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Grammarly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7452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Grammarly uses NLP to catch errors and suggest clearer, more natural writing in real time.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10881360" cy="315468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3246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36118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Paste a paragraph and watch Grammarly suggest corrections live.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434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8006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Grammar checking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523036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Spelling correction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5660136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Writing suggestions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APPLICATION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8686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Assistants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7452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Siri, Google Assistant, and Alexa combine speech recognition, language understanding, and voice generation.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10881360" cy="315468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3246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36118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Siri  ·  Google Assistant  ·  Alexa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434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8006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Speech recognition: turning voice into text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523036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Language understanding: interpreting the request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5660136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Voice generation: speaking the response back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APPLICATION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8686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Analysis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7452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uses NLP to determine whether text expresses a positive, negative, or neutral opinion.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10881360" cy="315468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3246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36118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Companies use sentiment analysis to understand customer opinions.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434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8006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“This restaurant was amazing!” → Positive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523036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“This restaurant was terrible.” → Negative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5660136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Applied at scale across thousands of reviews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APPLICATION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8686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7452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use NLP to hold conversations and answer common questions without a live human agent.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10881360" cy="315468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3246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36118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are chatbots helpful, and when is a human representative still necessary?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434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8006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Banks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523036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Online shopping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5660136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Universities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APPLICATION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8686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Gmail Smart Compose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7452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Compose uses NLP to predict and suggest the next words as you type an email.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10881360" cy="315468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3246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36118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it guess what you're about to write?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434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8006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Learns from common phrasing patterns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523036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Speeds up routine writing tasks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5660136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Can be wrong when your intent is unusual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RECAP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Applications, One Technology</a:t>
            </a:r>
            <a:endParaRPr lang="en-US" sz="2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4535424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NLP Skill It Shows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Translate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translation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generation &amp; context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&amp; writing suggestions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Assistants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Speech recognition &amp; generation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 Analysis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Opinion detection at scale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Chatbots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Conversational Q&amp;A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Gmail Smart Compose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 text generation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MULTIMEDIA COMPREHENSION · 15 MINUTES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Watch, Then Discuss as a Class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78608" cy="1371600"/>
          </a:xfrm>
          <a:prstGeom prst="roundRect">
            <a:avLst>
              <a:gd name="adj" fmla="val 6667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23042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Translate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01568" y="1783080"/>
            <a:ext cx="2578608" cy="1371600"/>
          </a:xfrm>
          <a:prstGeom prst="roundRect">
            <a:avLst>
              <a:gd name="adj" fmla="val 6667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3538728" y="1783080"/>
            <a:ext cx="23042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63056" y="1783080"/>
            <a:ext cx="2578608" cy="1371600"/>
          </a:xfrm>
          <a:prstGeom prst="roundRect">
            <a:avLst>
              <a:gd name="adj" fmla="val 6667"/>
            </a:avLst>
          </a:prstGeom>
          <a:solidFill>
            <a:srgbClr val="0B1F3A"/>
          </a:solidFill>
          <a:ln/>
        </p:spPr>
      </p:sp>
      <p:sp>
        <p:nvSpPr>
          <p:cNvPr id="9" name="Text 7"/>
          <p:cNvSpPr/>
          <p:nvPr/>
        </p:nvSpPr>
        <p:spPr>
          <a:xfrm>
            <a:off x="6300216" y="1783080"/>
            <a:ext cx="23042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Conversation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24544" y="1783080"/>
            <a:ext cx="2578608" cy="1371600"/>
          </a:xfrm>
          <a:prstGeom prst="roundRect">
            <a:avLst>
              <a:gd name="adj" fmla="val 6667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9061704" y="1783080"/>
            <a:ext cx="23042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Chatbot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347472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language task is the AI performing?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23367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33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4187952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challenges might it face?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494690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9469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4901184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it misunderstands the user?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114800" cy="4114800"/>
          </a:xfrm>
          <a:prstGeom prst="ellipse">
            <a:avLst/>
          </a:prstGeom>
          <a:solidFill>
            <a:srgbClr val="13233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103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ACTIVITY · 20 MINUTES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&amp; Share:</a:t>
            </a:r>
            <a:endParaRPr lang="en-US" sz="38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NLP Encounter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42062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50" i="1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individual activity where you apply today's concepts to your own life — then share what you found with the class.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INSTRUCTIONS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Through These Steps On Your Own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75104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7510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965960" y="187452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965960" y="2240280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one NLP-powered tool you personally used in the past week (search, translate, chatbot, autocorrect, etc.).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935224"/>
            <a:ext cx="108813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3127248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1272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965960" y="3026664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965960" y="3392424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NLP task it relies on — translation, sentiment analysis, text generation, or another from today's lesson.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087368"/>
            <a:ext cx="108813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27939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2793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965960" y="4178808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965960" y="4544568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2–3 sentences: what worked well, and what limitation or mistake did you notice?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239512"/>
            <a:ext cx="108813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60120" y="5431536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43153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965960" y="5330952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 to Share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965960" y="5696712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ready to share your example out loud, one student at a time, in under a minute.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TIME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It's Your Turn to Share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your 1-minute share around these three prompts: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02152" cy="3931920"/>
          </a:xfrm>
          <a:prstGeom prst="roundRect">
            <a:avLst>
              <a:gd name="adj" fmla="val 3655"/>
            </a:avLst>
          </a:prstGeom>
          <a:solidFill>
            <a:srgbClr val="0B1F3A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286000"/>
            <a:ext cx="548640" cy="54864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you use, and why NLP?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tool and the NLP task behind 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25112" y="2011680"/>
            <a:ext cx="3502152" cy="3931920"/>
          </a:xfrm>
          <a:prstGeom prst="roundRect">
            <a:avLst>
              <a:gd name="adj" fmla="val 3655"/>
            </a:avLst>
          </a:prstGeom>
          <a:solidFill>
            <a:srgbClr val="0B1F3A"/>
          </a:solidFill>
          <a:ln/>
        </p:spPr>
      </p:sp>
      <p:sp>
        <p:nvSpPr>
          <p:cNvPr id="11" name="Shape 9"/>
          <p:cNvSpPr/>
          <p:nvPr/>
        </p:nvSpPr>
        <p:spPr>
          <a:xfrm>
            <a:off x="4599432" y="2286000"/>
            <a:ext cx="548640" cy="54864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9432" y="297180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impressed you?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99432" y="388620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the tool get surprisingly right?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10144" y="2011680"/>
            <a:ext cx="3502152" cy="3931920"/>
          </a:xfrm>
          <a:prstGeom prst="roundRect">
            <a:avLst>
              <a:gd name="adj" fmla="val 3655"/>
            </a:avLst>
          </a:prstGeom>
          <a:solidFill>
            <a:srgbClr val="0B1F3A"/>
          </a:solidFill>
          <a:ln/>
        </p:spPr>
      </p:sp>
      <p:sp>
        <p:nvSpPr>
          <p:cNvPr id="16" name="Shape 14"/>
          <p:cNvSpPr/>
          <p:nvPr/>
        </p:nvSpPr>
        <p:spPr>
          <a:xfrm>
            <a:off x="8284464" y="2286000"/>
            <a:ext cx="548640" cy="54864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7" name="Text 15"/>
          <p:cNvSpPr/>
          <p:nvPr/>
        </p:nvSpPr>
        <p:spPr>
          <a:xfrm>
            <a:off x="8284464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84464" y="297180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improve?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284464" y="388620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limitation did you notice, and how might it be fixed?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QUIZ · 10 MINUTES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1B2B44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11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Natural Language Processing?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349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1B2B44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28232" y="2011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28232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86600" y="192024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human language difficult for computers?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227832"/>
            <a:ext cx="5349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1B2B44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96112" y="34564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3456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336499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three applications of NLP.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3227832"/>
            <a:ext cx="5349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1B2B44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28232" y="34564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428232" y="3456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86600" y="336499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sentiment analysis?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672584"/>
            <a:ext cx="5349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1B2B44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6112" y="490118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49011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4809744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ChatGPT related to NLP?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72200" y="4672584"/>
            <a:ext cx="5349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1B2B44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28232" y="490118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428232" y="49011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86600" y="4809744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context important in language understanding?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OUTPUT · INDIVIDUAL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 in Daily Life: Case Study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10149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Analyze how NLP is used in a real-world application and evaluate its effectiveness.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NLP-powered application: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337560"/>
            <a:ext cx="3502152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337560"/>
            <a:ext cx="3502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5112" y="3337560"/>
            <a:ext cx="3502152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25112" y="3337560"/>
            <a:ext cx="3502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Translate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10144" y="3337560"/>
            <a:ext cx="3502152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10144" y="3337560"/>
            <a:ext cx="3502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Grammarly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959352"/>
            <a:ext cx="3502152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959352"/>
            <a:ext cx="3502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25112" y="3959352"/>
            <a:ext cx="3502152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25112" y="3959352"/>
            <a:ext cx="3502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Assistant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10144" y="3959352"/>
            <a:ext cx="3502152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10144" y="3959352"/>
            <a:ext cx="3502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581144"/>
            <a:ext cx="3502152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581144"/>
            <a:ext cx="3502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Messenger Chatbot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25112" y="4581144"/>
            <a:ext cx="3502152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25112" y="4581144"/>
            <a:ext cx="3502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Chatbot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10144" y="4581144"/>
            <a:ext cx="3502152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10144" y="4581144"/>
            <a:ext cx="3502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Smart Compose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5806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...or another application approved by your instructor.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STRUCTURE · 1 OF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Parts 1 –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965960" y="1993392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 — Application Overview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65960" y="2423160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is, what task it performs, and who uses it.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310128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3630168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6301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965960" y="3474720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 — NLP Analysis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965960" y="3904488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language problem it solves and what NLP capability it shows.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791456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5111496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11149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965960" y="4956048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3 — Strengths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965960" y="5385816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three advantages of the application.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STRUCTURE · 2 OF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Parts 4 – 5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3774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3774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2176272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4 — Limitations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03120" y="2697480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three situations where the application may fail or misunderstand.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703320"/>
            <a:ext cx="10881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41605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1605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103120" y="3959352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5 — Personal Reflection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03120" y="4480560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250–300 words: what improvements would you add?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GUIDELINES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Submit Your Case Study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1B2B44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3736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0" y="173736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Word (.docx) or PDF (.pdf) only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505456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1B2B44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505456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TYPE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0" y="2505456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— not a group submission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273552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1B2B44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27355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NAME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3273552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Surname_FirstName_AI101_Week4_CaseStudy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041648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1B2B44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404164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404164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Approx. 500–700 words total, including all 5 parts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8097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1B2B44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809744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4809744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the LMS / channel specified by your instructor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57784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1B2B44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557784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0" y="557784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announced by your instructor — late work follows the course late policy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RUBRIC · 100 POINTS TOTAL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Case Study Is Scored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of NLP concepts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577840" y="1938528"/>
            <a:ext cx="5212080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5577840" y="1938528"/>
            <a:ext cx="594360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0" y="182880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 analysis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577840" y="2715768"/>
            <a:ext cx="5212080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0" name="Shape 8"/>
          <p:cNvSpPr/>
          <p:nvPr/>
        </p:nvSpPr>
        <p:spPr>
          <a:xfrm>
            <a:off x="5577840" y="2715768"/>
            <a:ext cx="594360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0" y="260604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evaluation of strengths and limitations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577840" y="3493008"/>
            <a:ext cx="5212080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4" name="Shape 12"/>
          <p:cNvSpPr/>
          <p:nvPr/>
        </p:nvSpPr>
        <p:spPr>
          <a:xfrm>
            <a:off x="5577840" y="3493008"/>
            <a:ext cx="475488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0" y="338328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416052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and originality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577840" y="4270248"/>
            <a:ext cx="5212080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8" name="Shape 16"/>
          <p:cNvSpPr/>
          <p:nvPr/>
        </p:nvSpPr>
        <p:spPr>
          <a:xfrm>
            <a:off x="5577840" y="4270248"/>
            <a:ext cx="475488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0" y="416052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49377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Organization, grammar, and presentation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577840" y="5047488"/>
            <a:ext cx="5212080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2" name="Shape 20"/>
          <p:cNvSpPr/>
          <p:nvPr/>
        </p:nvSpPr>
        <p:spPr>
          <a:xfrm>
            <a:off x="5577840" y="5047488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0" y="493776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Covered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29384"/>
            <a:ext cx="548640" cy="54864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293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83080" y="1783080"/>
            <a:ext cx="9509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lets computers understand, interpret, and generate human language.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0120" y="2889504"/>
            <a:ext cx="548640" cy="54864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8895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83080" y="2743200"/>
            <a:ext cx="9509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is hard for computers because of ambiguity, context, slang, and grammar.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60120" y="3849624"/>
            <a:ext cx="548640" cy="54864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8496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83080" y="3703320"/>
            <a:ext cx="9509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NLP pipeline turns written words into meaning, and meaning into a response.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6634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0120" y="4809744"/>
            <a:ext cx="548640" cy="54864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8097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783080" y="4663440"/>
            <a:ext cx="9509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powers everyday tools: translation, chatbots, sentiment analysis, and more.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562356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60120" y="5769864"/>
            <a:ext cx="548640" cy="54864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57698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783080" y="5623560"/>
            <a:ext cx="9509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NLP prepares us for next week's topic: Prompt Engineering.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AHEAD: WEEK 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128016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discovered that AI can understand and generate human language through Natural Language Processing.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" y="237744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50" i="1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have you noticed the quality of ChatGPT's answers often depends on how we ask the question?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77240" y="3520440"/>
            <a:ext cx="10515600" cy="1554480"/>
          </a:xfrm>
          <a:prstGeom prst="roundRect">
            <a:avLst>
              <a:gd name="adj" fmla="val 8235"/>
            </a:avLst>
          </a:prstGeom>
          <a:solidFill>
            <a:srgbClr val="13233A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703320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E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Week: Prompt Engineering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420624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learn why writing effective prompts is becoming one of the most valuable AI skills.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3233A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13233A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4688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77240" y="3566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discuss before we wrap up.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63093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4 · Natural Language Processing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WEEK 4  ·  NATURAL LANGUAGE PROCESSING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2549</Words>
  <Application>Microsoft Office PowerPoint</Application>
  <PresentationFormat>Widescreen</PresentationFormat>
  <Paragraphs>527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Jay laurence Enarin</cp:lastModifiedBy>
  <cp:revision>2</cp:revision>
  <dcterms:created xsi:type="dcterms:W3CDTF">2026-08-16T11:14:19Z</dcterms:created>
  <dcterms:modified xsi:type="dcterms:W3CDTF">2026-08-26T00:28:00Z</dcterms:modified>
</cp:coreProperties>
</file>