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Generative AI is useful, but it is not automatically reliable, safe, or harmless. Week 10: how to collaborate with AI. Week 11: what can go wrong and how do we respond?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students thinking about the difference between confidence and correctness.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conceptually, without going deeply into model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students from theoretical understanding to critical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attempt a complicated legal answer; focus on the principle.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think individually, discuss with a partner, then share with the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be a short written formative assessment or oral recitation.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Question → Verify → Compare → Evaluate →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Risks of Generative AI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with Prompt Engineering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| AI 101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 ≠  AUTOMATICALLY RELIABLE, SAFE, OR HARMLESS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43000"/>
            <a:ext cx="8138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common limitations of generative AI.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AI hallucinations and misinformation.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basic copyright and intellectual property concerns.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deepfakes can affect digital trust.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why AI outputs need critical evaluation.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responsible ways of responding to AI-generated content.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393192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931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"Can AI generate it?" but "Can I trust and responsibly use what AI generated?"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8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Trust AI?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AI gives you a confident answer, does that mean the answer is true?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92608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you ever received an incorrect answer from AI?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AI produce incorrect information?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an AI response look believable?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HALLUCINATIONS AND MISINFORMATION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0584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hallucination occurs when an AI system generates information that appears convincing but is incorrect, fabricated, or unsupported.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28600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nonexistent source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incorrect fact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fictional quotation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programming information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made-up person or event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8138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286000"/>
            <a:ext cx="8138160" cy="45720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2860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834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not necessarily "know" that its answer is wrong.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AI Hallucinate?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HALLUCINATIONS AND MISINFORMATION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188720"/>
            <a:ext cx="8138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responses based on learned patterns.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automatically verify every statement.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poorly written prompt can cause misunderstanding.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insufficient information can lead to an unreliable response.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may generate a plausible answer instead of admitting uncertainty.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402336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can sound intelligent without being correct.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and Misinformation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HALLUCINATIONS AND MISINFORMATION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Hallucination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Misinformation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generates incorrect information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information is shared or presented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happen unintentionally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 spread by people or systems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look convincing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influence what people believe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verification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critical 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84048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hallucination becomes misinformation when people accept and share it without checking.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Trust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HALLUCINATIONS AND MISINFORMATION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49595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1495958" cy="5029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097280"/>
            <a:ext cx="1495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Question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91640"/>
            <a:ext cx="13130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answer make sense?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63470" y="1097280"/>
            <a:ext cx="149595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63470" y="1097280"/>
            <a:ext cx="1495958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163470" y="1097280"/>
            <a:ext cx="1495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Check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54910" y="1691640"/>
            <a:ext cx="13130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information be verified?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24021" y="1097280"/>
            <a:ext cx="149595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24021" y="1097280"/>
            <a:ext cx="1495958" cy="5029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24021" y="1097280"/>
            <a:ext cx="1495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Compare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915461" y="1691640"/>
            <a:ext cx="13130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reliable sources agree?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4571" y="1097280"/>
            <a:ext cx="149595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4571" y="1097280"/>
            <a:ext cx="1495958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4571" y="1097280"/>
            <a:ext cx="1495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Understand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76011" y="1691640"/>
            <a:ext cx="13130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actually understand the information?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45122" y="1097280"/>
            <a:ext cx="149595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45122" y="1097280"/>
            <a:ext cx="1495958" cy="5029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45122" y="1097280"/>
            <a:ext cx="14959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Decide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236562" y="1691640"/>
            <a:ext cx="13130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appropriate to use?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3383280"/>
            <a:ext cx="1399032" cy="731520"/>
          </a:xfrm>
          <a:prstGeom prst="roundRect">
            <a:avLst>
              <a:gd name="adj" fmla="val 12500"/>
            </a:avLst>
          </a:prstGeom>
          <a:solidFill>
            <a:srgbClr val="1228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02920" y="3383280"/>
            <a:ext cx="139903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883664" y="33832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130552" y="3383280"/>
            <a:ext cx="1399032" cy="731520"/>
          </a:xfrm>
          <a:prstGeom prst="roundRect">
            <a:avLst>
              <a:gd name="adj" fmla="val 12500"/>
            </a:avLst>
          </a:prstGeom>
          <a:solidFill>
            <a:srgbClr val="0E9AA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130552" y="3383280"/>
            <a:ext cx="139903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511296" y="33832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758184" y="3383280"/>
            <a:ext cx="1399032" cy="731520"/>
          </a:xfrm>
          <a:prstGeom prst="roundRect">
            <a:avLst>
              <a:gd name="adj" fmla="val 12500"/>
            </a:avLst>
          </a:prstGeom>
          <a:solidFill>
            <a:srgbClr val="12284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758184" y="3383280"/>
            <a:ext cx="139903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138928" y="33832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85816" y="3383280"/>
            <a:ext cx="1399032" cy="731520"/>
          </a:xfrm>
          <a:prstGeom prst="roundRect">
            <a:avLst>
              <a:gd name="adj" fmla="val 12500"/>
            </a:avLst>
          </a:prstGeom>
          <a:solidFill>
            <a:srgbClr val="0E9AA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385816" y="3383280"/>
            <a:ext cx="139903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766560" y="33832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013448" y="3383280"/>
            <a:ext cx="1399032" cy="731520"/>
          </a:xfrm>
          <a:prstGeom prst="roundRect">
            <a:avLst>
              <a:gd name="adj" fmla="val 12500"/>
            </a:avLst>
          </a:prstGeom>
          <a:solidFill>
            <a:srgbClr val="12284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013448" y="3383280"/>
            <a:ext cx="139903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HALLUCINATIONS AND MISINFORMATION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0515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gives you five sources for your IT research paper. They look professional and have realistic titles.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0312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you check?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know the source exists?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verification important?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responsible if the source is fake?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2920" y="402336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immediately use them?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AI-Generated Content?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COPYRIGHT AND INTELLECTUAL PROPERTY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0058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 (IP) generally concerns creations such as: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02920" y="160020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1228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292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works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246120" y="160020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0E9AA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24612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989320" y="160020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1228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8932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02920" y="224028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0E9AA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0292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246120" y="224028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12284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24612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989320" y="224028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0E9AA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8932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creative works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30175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generates something for you, can you automatically treat it as completely yours?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02920" y="402336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8580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can involve ownership questions that users need to consider.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and AI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COPYRIGHT AND INTELLECTUAL PROPERTY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88720"/>
            <a:ext cx="8138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copyrighted material without permission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someone else's work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content that resembles existing creative works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AI-generated material in academic or commercial work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to recognize the original creator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402336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not remove our responsibility to respect other people's work.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Uses AI for a Project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COPYRIGHT AND INTELLECTUAL PROPERTY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5156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 student asks AI to generate images, text, and code for a school project. What should they consider first?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26029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20240"/>
            <a:ext cx="2602992" cy="5029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1920240"/>
            <a:ext cx="260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514600"/>
            <a:ext cx="2420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content come from?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contain someone else's work?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70504" y="1920240"/>
            <a:ext cx="26029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0504" y="1920240"/>
            <a:ext cx="2602992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70504" y="1920240"/>
            <a:ext cx="260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361944" y="2514600"/>
            <a:ext cx="2420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instructor require disclosure of AI use?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attribution or permission needed?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8088" y="1920240"/>
            <a:ext cx="26029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8088" y="1920240"/>
            <a:ext cx="2602992" cy="5029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8088" y="1920240"/>
            <a:ext cx="260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129528" y="2514600"/>
            <a:ext cx="2420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appropriate for the project?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understand the content?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DEEPFAKES AND DIGITAL TRUST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0584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are AI-generated or manipulated media that can make a person appear to say or do something they did not actually say or do.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37744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Manipulated videos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voices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 photographs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speeches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interviews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8138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377440"/>
            <a:ext cx="8138160" cy="45720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377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or hearing something online does not automatically prove that it is authentic.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of Digital Trust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DEEPFAKES AND DIGITAL TRUST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91109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1911096" cy="5029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097280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91640"/>
            <a:ext cx="1728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or reputation may be manipulated.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78608" y="1097280"/>
            <a:ext cx="191109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78608" y="1097280"/>
            <a:ext cx="1911096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78608" y="1097280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1691640"/>
            <a:ext cx="1728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may believe false information.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54296" y="1097280"/>
            <a:ext cx="191109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097280"/>
            <a:ext cx="1911096" cy="5029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54296" y="1097280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745736" y="1691640"/>
            <a:ext cx="1728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statements can damage organizations or individuals.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29984" y="1097280"/>
            <a:ext cx="191109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9984" y="1097280"/>
            <a:ext cx="1911096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9984" y="1097280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21424" y="1691640"/>
            <a:ext cx="1728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Manipulated media can be used to deceive people.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20040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200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trust: confidence that digital information, identities, and communications are authentic and reliable.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Share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DEEPFAKES AND DIGITAL TRUST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911096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1911096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097280"/>
            <a:ext cx="191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920240"/>
            <a:ext cx="1728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question the content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78608" y="1097280"/>
            <a:ext cx="1911096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78608" y="1097280"/>
            <a:ext cx="1911096" cy="7315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78608" y="1097280"/>
            <a:ext cx="191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1920240"/>
            <a:ext cx="1728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original source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097280"/>
            <a:ext cx="1911096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097280"/>
            <a:ext cx="1911096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54296" y="1097280"/>
            <a:ext cx="191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745736" y="1920240"/>
            <a:ext cx="1728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for inconsistencies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29984" y="1097280"/>
            <a:ext cx="1911096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9984" y="1097280"/>
            <a:ext cx="1911096" cy="7315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9984" y="1097280"/>
            <a:ext cx="1911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21424" y="1920240"/>
            <a:ext cx="1728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using other reliable sources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" y="356616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566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share information simply because it is shocking, emotional, or convincing.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Major Risks of Generative AI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CRITICAL EVALUATION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26029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97280"/>
            <a:ext cx="2602992" cy="5029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097280"/>
            <a:ext cx="260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Hallucinations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691640"/>
            <a:ext cx="2420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generate incorrect or fabricated information.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70504" y="1097280"/>
            <a:ext cx="26029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0504" y="1097280"/>
            <a:ext cx="2602992" cy="50292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70504" y="1097280"/>
            <a:ext cx="260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Intellectual Property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361944" y="1691640"/>
            <a:ext cx="2420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or AI-assisted content can raise ownership and copyright concerns.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38088" y="1097280"/>
            <a:ext cx="26029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8088" y="1097280"/>
            <a:ext cx="2602992" cy="5029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38088" y="1097280"/>
            <a:ext cx="260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Deepfakes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129528" y="1691640"/>
            <a:ext cx="2420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make false media appear authentic.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657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become more harmful when people fail to verify what they see.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Look at AI Risks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31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CRITICAL EVALUATION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51560"/>
          <a:ext cx="8138160" cy="914400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Ethical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E9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output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Responsible use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Misinformation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limitations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Copyright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of trust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reliability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 and responsibility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Deepfakes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Unreliable results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 use of content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deception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383280"/>
            <a:ext cx="2484120" cy="731520"/>
          </a:xfrm>
          <a:prstGeom prst="roundRect">
            <a:avLst>
              <a:gd name="adj" fmla="val 12500"/>
            </a:avLst>
          </a:prstGeom>
          <a:solidFill>
            <a:srgbClr val="1228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02920" y="3383280"/>
            <a:ext cx="24841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968752" y="33832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15640" y="3383280"/>
            <a:ext cx="2484120" cy="731520"/>
          </a:xfrm>
          <a:prstGeom prst="roundRect">
            <a:avLst>
              <a:gd name="adj" fmla="val 12500"/>
            </a:avLst>
          </a:prstGeom>
          <a:solidFill>
            <a:srgbClr val="0E9AA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215640" y="3383280"/>
            <a:ext cx="24841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681472" y="338328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28360" y="3383280"/>
            <a:ext cx="2484120" cy="731520"/>
          </a:xfrm>
          <a:prstGeom prst="roundRect">
            <a:avLst>
              <a:gd name="adj" fmla="val 12500"/>
            </a:avLst>
          </a:prstGeom>
          <a:solidFill>
            <a:srgbClr val="1228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28360" y="3383280"/>
            <a:ext cx="24841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risks are not only technical problems.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8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→ Pair → Share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18872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should we verify AI-generated information?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could happen if people believe a deepfake?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responsibility does an IT professional have when using AI-generated content?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You Remember?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149595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51560"/>
            <a:ext cx="1495958" cy="64008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051560"/>
            <a:ext cx="1495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83080"/>
            <a:ext cx="13130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generate incorrect information.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63470" y="1051560"/>
            <a:ext cx="149595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3470" y="1051560"/>
            <a:ext cx="1495958" cy="64008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63470" y="1051560"/>
            <a:ext cx="1495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54910" y="1783080"/>
            <a:ext cx="13130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information spreads when people fail to verify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24021" y="1051560"/>
            <a:ext cx="149595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24021" y="1051560"/>
            <a:ext cx="1495958" cy="64008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24021" y="1051560"/>
            <a:ext cx="1495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915461" y="1783080"/>
            <a:ext cx="13130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not remove our duty to respect IP.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4571" y="1051560"/>
            <a:ext cx="149595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4571" y="1051560"/>
            <a:ext cx="1495958" cy="64008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4571" y="1051560"/>
            <a:ext cx="1495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576011" y="1783080"/>
            <a:ext cx="13130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can be manipulated to appear authentic.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45122" y="1051560"/>
            <a:ext cx="149595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45122" y="1051560"/>
            <a:ext cx="1495958" cy="64008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45122" y="1051560"/>
            <a:ext cx="14959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236562" y="1783080"/>
            <a:ext cx="13130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critically evaluate AI content.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347472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3474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believe something simply because AI generated it.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19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14300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AI hallucination?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AI-generated information be verified?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one copyright concern related to AI?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deepfake?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deepfakes affect digital trust?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responsible for evaluating AI-generated content before using it?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</a:rPr>
              <a:t>20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097280"/>
            <a:ext cx="8138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 receive an AI-generated article, image, or video that appears completely believable. What would you do before trusting or sharing it? Explain why.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02920" y="2743200"/>
            <a:ext cx="1399032" cy="731520"/>
          </a:xfrm>
          <a:prstGeom prst="roundRect">
            <a:avLst>
              <a:gd name="adj" fmla="val 12500"/>
            </a:avLst>
          </a:prstGeom>
          <a:solidFill>
            <a:srgbClr val="1228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02920" y="2743200"/>
            <a:ext cx="139903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883664" y="27432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130552" y="2743200"/>
            <a:ext cx="1399032" cy="731520"/>
          </a:xfrm>
          <a:prstGeom prst="roundRect">
            <a:avLst>
              <a:gd name="adj" fmla="val 12500"/>
            </a:avLst>
          </a:prstGeom>
          <a:solidFill>
            <a:srgbClr val="0E9AA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30552" y="2743200"/>
            <a:ext cx="139903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511296" y="27432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758184" y="2743200"/>
            <a:ext cx="1399032" cy="731520"/>
          </a:xfrm>
          <a:prstGeom prst="roundRect">
            <a:avLst>
              <a:gd name="adj" fmla="val 12500"/>
            </a:avLst>
          </a:prstGeom>
          <a:solidFill>
            <a:srgbClr val="12284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758184" y="2743200"/>
            <a:ext cx="139903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138928" y="27432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385816" y="2743200"/>
            <a:ext cx="1399032" cy="731520"/>
          </a:xfrm>
          <a:prstGeom prst="roundRect">
            <a:avLst>
              <a:gd name="adj" fmla="val 12500"/>
            </a:avLst>
          </a:prstGeom>
          <a:solidFill>
            <a:srgbClr val="0E9AA7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385816" y="2743200"/>
            <a:ext cx="139903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0" y="27432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013448" y="2743200"/>
            <a:ext cx="1399032" cy="731520"/>
          </a:xfrm>
          <a:prstGeom prst="roundRect">
            <a:avLst>
              <a:gd name="adj" fmla="val 12500"/>
            </a:avLst>
          </a:prstGeom>
          <a:solidFill>
            <a:srgbClr val="1228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013448" y="2743200"/>
            <a:ext cx="139903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3840480"/>
            <a:ext cx="8138160" cy="731520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use begins with critical thinking.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Limitations and Risks of Generative AI</dc:title>
  <dc:subject>PptxGenJS Presentation</dc:subject>
  <dc:creator>PptxGenJS</dc:creator>
  <cp:lastModifiedBy>PptxGenJS</cp:lastModifiedBy>
  <cp:revision>1</cp:revision>
  <dcterms:created xsi:type="dcterms:W3CDTF">2026-10-06T04:27:51Z</dcterms:created>
  <dcterms:modified xsi:type="dcterms:W3CDTF">2026-10-06T04:27:51Z</dcterms:modified>
</cp:coreProperties>
</file>